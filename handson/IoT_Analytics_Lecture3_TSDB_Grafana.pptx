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1046" r:id="rId3"/>
    <p:sldId id="1047" r:id="rId4"/>
    <p:sldId id="1048" r:id="rId5"/>
    <p:sldId id="1049" r:id="rId6"/>
    <p:sldId id="1050" r:id="rId7"/>
    <p:sldId id="1087" r:id="rId8"/>
    <p:sldId id="1052" r:id="rId9"/>
    <p:sldId id="1053" r:id="rId10"/>
    <p:sldId id="1054" r:id="rId11"/>
    <p:sldId id="1055" r:id="rId12"/>
    <p:sldId id="1056" r:id="rId13"/>
    <p:sldId id="1057" r:id="rId14"/>
    <p:sldId id="1058" r:id="rId15"/>
    <p:sldId id="1059" r:id="rId16"/>
    <p:sldId id="1089" r:id="rId17"/>
    <p:sldId id="1092" r:id="rId18"/>
    <p:sldId id="1062" r:id="rId19"/>
    <p:sldId id="1063" r:id="rId20"/>
    <p:sldId id="1064" r:id="rId21"/>
    <p:sldId id="1065" r:id="rId22"/>
    <p:sldId id="1066" r:id="rId23"/>
    <p:sldId id="1067" r:id="rId24"/>
    <p:sldId id="1068" r:id="rId25"/>
    <p:sldId id="1097" r:id="rId26"/>
    <p:sldId id="1069" r:id="rId27"/>
    <p:sldId id="1099" r:id="rId28"/>
    <p:sldId id="1070" r:id="rId29"/>
    <p:sldId id="1071" r:id="rId30"/>
    <p:sldId id="1072" r:id="rId31"/>
    <p:sldId id="1073" r:id="rId32"/>
    <p:sldId id="1074" r:id="rId33"/>
    <p:sldId id="1075" r:id="rId34"/>
    <p:sldId id="1076" r:id="rId35"/>
    <p:sldId id="1077" r:id="rId36"/>
    <p:sldId id="1078" r:id="rId37"/>
    <p:sldId id="1079" r:id="rId38"/>
    <p:sldId id="1080" r:id="rId39"/>
    <p:sldId id="1081" r:id="rId40"/>
    <p:sldId id="1082" r:id="rId41"/>
    <p:sldId id="1083" r:id="rId42"/>
    <p:sldId id="1084" r:id="rId43"/>
    <p:sldId id="1085" r:id="rId44"/>
    <p:sldId id="268" r:id="rId45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7F25"/>
    <a:srgbClr val="3A3A3A"/>
    <a:srgbClr val="112344"/>
    <a:srgbClr val="E24535"/>
    <a:srgbClr val="E65D48"/>
    <a:srgbClr val="E3806D"/>
    <a:srgbClr val="E30000"/>
    <a:srgbClr val="85858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40" autoAdjust="0"/>
    <p:restoredTop sz="96327"/>
  </p:normalViewPr>
  <p:slideViewPr>
    <p:cSldViewPr snapToObjects="1">
      <p:cViewPr varScale="1">
        <p:scale>
          <a:sx n="63" d="100"/>
          <a:sy n="63" d="100"/>
        </p:scale>
        <p:origin x="38" y="81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562D89-2936-5D4B-82EC-20BBFE1B2B90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9A793E-FFBD-4B47-958F-376D6A849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302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Rule of thumb: if you would GROUP BY it or filter on it, make it a tag. If you would average or plot it, make it a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hyperlink" Target="https://www.instagram.com/isfcr.pesu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isfcr.pes.edu/" TargetMode="External"/><Relationship Id="rId5" Type="http://schemas.openxmlformats.org/officeDocument/2006/relationships/image" Target="../media/image11.png"/><Relationship Id="rId4" Type="http://schemas.openxmlformats.org/officeDocument/2006/relationships/hyperlink" Target="https://in.linkedin.com/company/isfcr" TargetMode="External"/><Relationship Id="rId9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lcom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BCD3CB0-0499-4B73-BE86-8FBE7F39DD3D}"/>
              </a:ext>
            </a:extLst>
          </p:cNvPr>
          <p:cNvSpPr txBox="1"/>
          <p:nvPr userDrawn="1"/>
        </p:nvSpPr>
        <p:spPr>
          <a:xfrm>
            <a:off x="3111795" y="1956391"/>
            <a:ext cx="2806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0" dirty="0">
                <a:solidFill>
                  <a:srgbClr val="112344"/>
                </a:solidFill>
              </a:rPr>
              <a:t>Welcome to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046966-42D7-48EB-BEF9-1DAA9FED7A3A}"/>
              </a:ext>
            </a:extLst>
          </p:cNvPr>
          <p:cNvSpPr txBox="1"/>
          <p:nvPr userDrawn="1"/>
        </p:nvSpPr>
        <p:spPr>
          <a:xfrm>
            <a:off x="0" y="2340641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EA7F25"/>
                </a:solidFill>
              </a:rPr>
              <a:t>PES University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50D159-64B7-4116-9464-966EDCB94DD6}"/>
              </a:ext>
            </a:extLst>
          </p:cNvPr>
          <p:cNvSpPr txBox="1"/>
          <p:nvPr userDrawn="1"/>
        </p:nvSpPr>
        <p:spPr>
          <a:xfrm>
            <a:off x="2197395" y="3024017"/>
            <a:ext cx="4749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0" dirty="0">
                <a:solidFill>
                  <a:srgbClr val="112344"/>
                </a:solidFill>
              </a:rPr>
              <a:t>Ring Road Campus, Bengaluru</a:t>
            </a:r>
          </a:p>
        </p:txBody>
      </p:sp>
      <p:pic>
        <p:nvPicPr>
          <p:cNvPr id="1026" name="Picture 2" descr="PES University">
            <a:extLst>
              <a:ext uri="{FF2B5EF4-FFF2-40B4-BE49-F238E27FC236}">
                <a16:creationId xmlns:a16="http://schemas.microsoft.com/office/drawing/2014/main" id="{15DFC36B-DF6C-64BC-9F9C-F81F3931B49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312" y="221623"/>
            <a:ext cx="1537091" cy="741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6FC9AF9-FB71-92FA-4C31-57264E1D84B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26" y="123478"/>
            <a:ext cx="1873545" cy="813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1694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lcom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1A68D-B40D-A64F-94EF-B045314836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04341" y="3370510"/>
            <a:ext cx="4600575" cy="771894"/>
          </a:xfrm>
        </p:spPr>
        <p:txBody>
          <a:bodyPr>
            <a:noAutofit/>
          </a:bodyPr>
          <a:lstStyle>
            <a:lvl1pPr marL="0" indent="0" algn="ctr">
              <a:buNone/>
              <a:defRPr sz="2400" b="0">
                <a:solidFill>
                  <a:srgbClr val="EA7F25"/>
                </a:solidFill>
              </a:defRPr>
            </a:lvl1pPr>
          </a:lstStyle>
          <a:p>
            <a:pPr lvl="0"/>
            <a:r>
              <a:rPr lang="en-US" dirty="0"/>
              <a:t>Lecture #, Date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AA0AB8-50E7-4E68-B224-27305695DC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04342" y="2564530"/>
            <a:ext cx="4600575" cy="646112"/>
          </a:xfrm>
        </p:spPr>
        <p:txBody>
          <a:bodyPr/>
          <a:lstStyle>
            <a:lvl1pPr marL="0" indent="0" algn="ctr">
              <a:buNone/>
              <a:defRPr lang="en-US" sz="2400" b="0" kern="1200" dirty="0" smtClean="0">
                <a:solidFill>
                  <a:srgbClr val="112344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Professor Name</a:t>
            </a:r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2AC5CDC-F861-48DD-8D63-D109412B31B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3597" y="1656209"/>
            <a:ext cx="6342062" cy="771525"/>
          </a:xfrm>
        </p:spPr>
        <p:txBody>
          <a:bodyPr>
            <a:normAutofit/>
          </a:bodyPr>
          <a:lstStyle>
            <a:lvl1pPr marL="0" indent="0" algn="ctr">
              <a:buNone/>
              <a:defRPr lang="en-IN" sz="3600" b="1" kern="1200" dirty="0">
                <a:solidFill>
                  <a:srgbClr val="EA7F2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Subject Name</a:t>
            </a:r>
            <a:endParaRPr lang="en-IN" dirty="0"/>
          </a:p>
        </p:txBody>
      </p:sp>
      <p:pic>
        <p:nvPicPr>
          <p:cNvPr id="2" name="Picture 2" descr="PES University">
            <a:extLst>
              <a:ext uri="{FF2B5EF4-FFF2-40B4-BE49-F238E27FC236}">
                <a16:creationId xmlns:a16="http://schemas.microsoft.com/office/drawing/2014/main" id="{371E1EF9-1853-4CF2-667B-BDCF7AAD4BC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312" y="123478"/>
            <a:ext cx="1537091" cy="741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7B075D-3E29-77C9-3E48-40AB8114AEE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95486"/>
            <a:ext cx="1835696" cy="741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0321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les of Engag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163D4EDF-F1E5-4373-8680-FD32DE9D6622}"/>
              </a:ext>
            </a:extLst>
          </p:cNvPr>
          <p:cNvGrpSpPr/>
          <p:nvPr userDrawn="1"/>
        </p:nvGrpSpPr>
        <p:grpSpPr>
          <a:xfrm>
            <a:off x="0" y="4887039"/>
            <a:ext cx="9144000" cy="276999"/>
            <a:chOff x="0" y="4887039"/>
            <a:chExt cx="9144000" cy="276999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1D236C9-3AA0-43C7-A500-8F1EB419B170}"/>
                </a:ext>
              </a:extLst>
            </p:cNvPr>
            <p:cNvSpPr/>
            <p:nvPr userDrawn="1"/>
          </p:nvSpPr>
          <p:spPr>
            <a:xfrm>
              <a:off x="0" y="4891791"/>
              <a:ext cx="9144000" cy="267494"/>
            </a:xfrm>
            <a:prstGeom prst="rect">
              <a:avLst/>
            </a:prstGeom>
            <a:gradFill flip="none" rotWithShape="1">
              <a:gsLst>
                <a:gs pos="4000">
                  <a:srgbClr val="FFFFFF"/>
                </a:gs>
                <a:gs pos="80000">
                  <a:srgbClr val="EA7F25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49928E3-45A5-4C34-A4B7-5B9A0DD5598A}"/>
                </a:ext>
              </a:extLst>
            </p:cNvPr>
            <p:cNvSpPr txBox="1"/>
            <p:nvPr userDrawn="1"/>
          </p:nvSpPr>
          <p:spPr>
            <a:xfrm>
              <a:off x="251520" y="4887039"/>
              <a:ext cx="23464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FFFFFF"/>
                  </a:solidFill>
                </a:rPr>
                <a:t>UE24CS342AA3: Internet of Things</a:t>
              </a:r>
              <a:endParaRPr lang="en-IN" sz="1200" dirty="0">
                <a:solidFill>
                  <a:srgbClr val="FFFFFF"/>
                </a:solidFill>
              </a:endParaRPr>
            </a:p>
          </p:txBody>
        </p:sp>
      </p:grpSp>
      <p:sp>
        <p:nvSpPr>
          <p:cNvPr id="20" name="Slide Number Placeholder 3">
            <a:extLst>
              <a:ext uri="{FF2B5EF4-FFF2-40B4-BE49-F238E27FC236}">
                <a16:creationId xmlns:a16="http://schemas.microsoft.com/office/drawing/2014/main" id="{E965F105-558E-4641-9690-69216F11CFCE}"/>
              </a:ext>
            </a:extLst>
          </p:cNvPr>
          <p:cNvSpPr>
            <a:spLocks noGrp="1"/>
          </p:cNvSpPr>
          <p:nvPr userDrawn="1">
            <p:ph type="sldNum" idx="11"/>
          </p:nvPr>
        </p:nvSpPr>
        <p:spPr>
          <a:xfrm>
            <a:off x="8472458" y="4850191"/>
            <a:ext cx="548700" cy="267494"/>
          </a:xfrm>
        </p:spPr>
        <p:txBody>
          <a:bodyPr/>
          <a:lstStyle>
            <a:lvl1pPr>
              <a:defRPr b="0" i="0"/>
            </a:lvl1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6D3672B-A97D-4D4A-9381-45CC94DB58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57381" y="898646"/>
            <a:ext cx="1164743" cy="116474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C17E4B2-0F53-412B-9325-BC0BF57693F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702637" y="2749583"/>
            <a:ext cx="1274231" cy="127423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BE0A2AE-B1A3-4E48-823C-3A373AF0E5B1}"/>
              </a:ext>
            </a:extLst>
          </p:cNvPr>
          <p:cNvSpPr txBox="1"/>
          <p:nvPr userDrawn="1"/>
        </p:nvSpPr>
        <p:spPr>
          <a:xfrm>
            <a:off x="1702637" y="2124555"/>
            <a:ext cx="12742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Emergency Exit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F0472C-699A-44D5-BEA3-A99A78E5409B}"/>
              </a:ext>
            </a:extLst>
          </p:cNvPr>
          <p:cNvSpPr txBox="1"/>
          <p:nvPr userDrawn="1"/>
        </p:nvSpPr>
        <p:spPr>
          <a:xfrm>
            <a:off x="1702637" y="4166959"/>
            <a:ext cx="12742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No Chatting 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FA7006D-5688-437B-96DA-C50AD46C717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918535" y="843558"/>
            <a:ext cx="1306930" cy="130693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B9D32B8-2B95-43A4-842B-43D879F274F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833918" y="2623708"/>
            <a:ext cx="1476164" cy="1476164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7793A870-81CB-4141-A854-9B7C57FF13BE}"/>
              </a:ext>
            </a:extLst>
          </p:cNvPr>
          <p:cNvSpPr txBox="1"/>
          <p:nvPr userDrawn="1"/>
        </p:nvSpPr>
        <p:spPr>
          <a:xfrm>
            <a:off x="3934885" y="2120724"/>
            <a:ext cx="12742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Assembly Point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3DDC80B-1466-4D4A-9214-5DE34E657183}"/>
              </a:ext>
            </a:extLst>
          </p:cNvPr>
          <p:cNvSpPr txBox="1"/>
          <p:nvPr userDrawn="1"/>
        </p:nvSpPr>
        <p:spPr>
          <a:xfrm>
            <a:off x="3934885" y="4166959"/>
            <a:ext cx="12742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Phones on silent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A16DF1F-A630-447E-860F-A19F12BB882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213286" y="860733"/>
            <a:ext cx="1181924" cy="118192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18873EF-D003-4D1A-8B62-CEA2CCEA28A0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6213286" y="2841890"/>
            <a:ext cx="1181924" cy="118192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1C138C55-4BD2-49BB-91F0-52E1EF531476}"/>
              </a:ext>
            </a:extLst>
          </p:cNvPr>
          <p:cNvSpPr txBox="1"/>
          <p:nvPr userDrawn="1"/>
        </p:nvSpPr>
        <p:spPr>
          <a:xfrm>
            <a:off x="6167133" y="2120723"/>
            <a:ext cx="12742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Washroom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ABBAB6D-243D-46E8-9950-FAE974F8ED5D}"/>
              </a:ext>
            </a:extLst>
          </p:cNvPr>
          <p:cNvSpPr txBox="1"/>
          <p:nvPr userDrawn="1"/>
        </p:nvSpPr>
        <p:spPr>
          <a:xfrm>
            <a:off x="6167133" y="4166959"/>
            <a:ext cx="12742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No Sleeping</a:t>
            </a:r>
            <a:endParaRPr lang="en-I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" name="Title Placeholder 3">
            <a:extLst>
              <a:ext uri="{FF2B5EF4-FFF2-40B4-BE49-F238E27FC236}">
                <a16:creationId xmlns:a16="http://schemas.microsoft.com/office/drawing/2014/main" id="{121F87D5-3BAE-4A6B-B7A2-0D3A7D523F4E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51520" y="8604"/>
            <a:ext cx="7886700" cy="5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800" b="1">
                <a:solidFill>
                  <a:srgbClr val="112344"/>
                </a:solidFill>
                <a:latin typeface="+mn-lt"/>
              </a:defRPr>
            </a:lvl1pPr>
          </a:lstStyle>
          <a:p>
            <a:r>
              <a:rPr lang="en-GB" dirty="0"/>
              <a:t>General Rules of Engagement</a:t>
            </a:r>
            <a:endParaRPr lang="en-US" dirty="0"/>
          </a:p>
        </p:txBody>
      </p:sp>
      <p:cxnSp>
        <p:nvCxnSpPr>
          <p:cNvPr id="43" name="Google Shape;28;p4">
            <a:extLst>
              <a:ext uri="{FF2B5EF4-FFF2-40B4-BE49-F238E27FC236}">
                <a16:creationId xmlns:a16="http://schemas.microsoft.com/office/drawing/2014/main" id="{BD73EC4A-A06E-4BE2-8487-16C36493381E}"/>
              </a:ext>
            </a:extLst>
          </p:cNvPr>
          <p:cNvCxnSpPr>
            <a:cxnSpLocks/>
          </p:cNvCxnSpPr>
          <p:nvPr userDrawn="1"/>
        </p:nvCxnSpPr>
        <p:spPr>
          <a:xfrm>
            <a:off x="244894" y="610581"/>
            <a:ext cx="7004700" cy="0"/>
          </a:xfrm>
          <a:prstGeom prst="straightConnector1">
            <a:avLst/>
          </a:prstGeom>
          <a:noFill/>
          <a:ln w="9525" cap="flat" cmpd="sng">
            <a:solidFill>
              <a:srgbClr val="EA7F2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Picture 4">
            <a:extLst>
              <a:ext uri="{FF2B5EF4-FFF2-40B4-BE49-F238E27FC236}">
                <a16:creationId xmlns:a16="http://schemas.microsoft.com/office/drawing/2014/main" id="{6C58C1BD-3C44-8378-FDCF-DBD5C150836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119951"/>
            <a:ext cx="723958" cy="314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PES University">
            <a:extLst>
              <a:ext uri="{FF2B5EF4-FFF2-40B4-BE49-F238E27FC236}">
                <a16:creationId xmlns:a16="http://schemas.microsoft.com/office/drawing/2014/main" id="{B9E3AF33-3DFD-471C-4E0A-B896B0D22D0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0646" y="113277"/>
            <a:ext cx="651617" cy="314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2198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10214CEB-6F65-F54B-8BC5-7A30511CB57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1700" y="1851670"/>
            <a:ext cx="8520600" cy="792600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112344"/>
                </a:solidFill>
                <a:latin typeface="+mn-lt"/>
              </a:defRPr>
            </a:lvl1pPr>
          </a:lstStyle>
          <a:p>
            <a:r>
              <a:rPr lang="en-US" dirty="0"/>
              <a:t>Chapter Title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D5E2F4-BA6B-4378-9D8F-2BA9E4AEBAF1}"/>
              </a:ext>
            </a:extLst>
          </p:cNvPr>
          <p:cNvSpPr txBox="1"/>
          <p:nvPr userDrawn="1"/>
        </p:nvSpPr>
        <p:spPr>
          <a:xfrm>
            <a:off x="311700" y="4887039"/>
            <a:ext cx="18095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</a:rPr>
              <a:t>ISFCR Executive Education</a:t>
            </a:r>
            <a:endParaRPr lang="en-IN" sz="1200" dirty="0">
              <a:solidFill>
                <a:srgbClr val="FFFFFF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E9F4336-3E6B-45A3-A668-3101B8039ACD}"/>
              </a:ext>
            </a:extLst>
          </p:cNvPr>
          <p:cNvGrpSpPr/>
          <p:nvPr userDrawn="1"/>
        </p:nvGrpSpPr>
        <p:grpSpPr>
          <a:xfrm>
            <a:off x="0" y="4887039"/>
            <a:ext cx="9144000" cy="276999"/>
            <a:chOff x="0" y="4887039"/>
            <a:chExt cx="9144000" cy="27699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8064697-053C-4FDB-875C-D9D9BE9CBB2F}"/>
                </a:ext>
              </a:extLst>
            </p:cNvPr>
            <p:cNvSpPr/>
            <p:nvPr userDrawn="1"/>
          </p:nvSpPr>
          <p:spPr>
            <a:xfrm>
              <a:off x="0" y="4891791"/>
              <a:ext cx="9144000" cy="267494"/>
            </a:xfrm>
            <a:prstGeom prst="rect">
              <a:avLst/>
            </a:prstGeom>
            <a:gradFill flip="none" rotWithShape="1">
              <a:gsLst>
                <a:gs pos="4000">
                  <a:srgbClr val="FFFFFF"/>
                </a:gs>
                <a:gs pos="80000">
                  <a:srgbClr val="EA7F25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66CC817-D8F0-4815-AD65-49A5B7F78F56}"/>
                </a:ext>
              </a:extLst>
            </p:cNvPr>
            <p:cNvSpPr txBox="1"/>
            <p:nvPr userDrawn="1"/>
          </p:nvSpPr>
          <p:spPr>
            <a:xfrm>
              <a:off x="251520" y="4887039"/>
              <a:ext cx="23464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FFFFFF"/>
                  </a:solidFill>
                </a:rPr>
                <a:t>UE24CS342AA3: Internet of Things</a:t>
              </a:r>
              <a:endParaRPr lang="en-IN" sz="1200" dirty="0">
                <a:solidFill>
                  <a:srgbClr val="FFFFFF"/>
                </a:solidFill>
              </a:endParaRPr>
            </a:p>
          </p:txBody>
        </p:sp>
      </p:grpSp>
      <p:cxnSp>
        <p:nvCxnSpPr>
          <p:cNvPr id="13" name="Google Shape;22;p3">
            <a:extLst>
              <a:ext uri="{FF2B5EF4-FFF2-40B4-BE49-F238E27FC236}">
                <a16:creationId xmlns:a16="http://schemas.microsoft.com/office/drawing/2014/main" id="{16CF7155-4F03-6F43-AFFF-4EC23F4E78DC}"/>
              </a:ext>
            </a:extLst>
          </p:cNvPr>
          <p:cNvCxnSpPr/>
          <p:nvPr userDrawn="1"/>
        </p:nvCxnSpPr>
        <p:spPr>
          <a:xfrm>
            <a:off x="326175" y="2650816"/>
            <a:ext cx="8032500" cy="0"/>
          </a:xfrm>
          <a:prstGeom prst="straightConnector1">
            <a:avLst/>
          </a:prstGeom>
          <a:noFill/>
          <a:ln w="9525" cap="flat" cmpd="sng">
            <a:solidFill>
              <a:srgbClr val="E6913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94B1C9-C2C7-E84D-AE97-93A63BB2E689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25438" y="2786466"/>
            <a:ext cx="8507412" cy="357188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3A3A3A"/>
                </a:solidFill>
              </a:defRPr>
            </a:lvl1pPr>
          </a:lstStyle>
          <a:p>
            <a:pPr lvl="0"/>
            <a:r>
              <a:rPr lang="en-US" dirty="0"/>
              <a:t>Optional one-line Description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7DE010EF-6EC5-4088-AC9D-A56A2EF7CAE8}"/>
              </a:ext>
            </a:extLst>
          </p:cNvPr>
          <p:cNvSpPr>
            <a:spLocks noGrp="1"/>
          </p:cNvSpPr>
          <p:nvPr userDrawn="1">
            <p:ph type="sldNum" idx="11"/>
          </p:nvPr>
        </p:nvSpPr>
        <p:spPr>
          <a:xfrm>
            <a:off x="8472458" y="4850191"/>
            <a:ext cx="548700" cy="267494"/>
          </a:xfrm>
        </p:spPr>
        <p:txBody>
          <a:bodyPr/>
          <a:lstStyle>
            <a:lvl1pPr>
              <a:defRPr b="0" i="0"/>
            </a:lvl1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F991498A-8824-D7AC-AF69-E07048EF626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119951"/>
            <a:ext cx="723958" cy="314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PES University">
            <a:extLst>
              <a:ext uri="{FF2B5EF4-FFF2-40B4-BE49-F238E27FC236}">
                <a16:creationId xmlns:a16="http://schemas.microsoft.com/office/drawing/2014/main" id="{4D0F9EBF-9B25-414B-73CB-8FA1EAFE6A5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0646" y="113277"/>
            <a:ext cx="651617" cy="314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549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-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3">
            <a:extLst>
              <a:ext uri="{FF2B5EF4-FFF2-40B4-BE49-F238E27FC236}">
                <a16:creationId xmlns:a16="http://schemas.microsoft.com/office/drawing/2014/main" id="{5982B506-10F8-524B-AEE8-A8177D3522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520" y="8604"/>
            <a:ext cx="7886700" cy="5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800" b="1">
                <a:solidFill>
                  <a:srgbClr val="112344"/>
                </a:solidFill>
                <a:latin typeface="+mn-lt"/>
              </a:defRPr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  <p:cxnSp>
        <p:nvCxnSpPr>
          <p:cNvPr id="11" name="Google Shape;28;p4">
            <a:extLst>
              <a:ext uri="{FF2B5EF4-FFF2-40B4-BE49-F238E27FC236}">
                <a16:creationId xmlns:a16="http://schemas.microsoft.com/office/drawing/2014/main" id="{DEB104F8-0979-BE49-BA12-F71EB74E0985}"/>
              </a:ext>
            </a:extLst>
          </p:cNvPr>
          <p:cNvCxnSpPr>
            <a:cxnSpLocks/>
          </p:cNvCxnSpPr>
          <p:nvPr userDrawn="1"/>
        </p:nvCxnSpPr>
        <p:spPr>
          <a:xfrm>
            <a:off x="244894" y="610581"/>
            <a:ext cx="7004700" cy="0"/>
          </a:xfrm>
          <a:prstGeom prst="straightConnector1">
            <a:avLst/>
          </a:prstGeom>
          <a:noFill/>
          <a:ln w="9525" cap="flat" cmpd="sng">
            <a:solidFill>
              <a:srgbClr val="EA7F26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376B55DB-D495-433A-836E-8EE726C82C91}"/>
              </a:ext>
            </a:extLst>
          </p:cNvPr>
          <p:cNvGrpSpPr/>
          <p:nvPr userDrawn="1"/>
        </p:nvGrpSpPr>
        <p:grpSpPr>
          <a:xfrm>
            <a:off x="0" y="4887039"/>
            <a:ext cx="9144000" cy="276999"/>
            <a:chOff x="0" y="4887039"/>
            <a:chExt cx="9144000" cy="276999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BAF4919-5D6C-4760-917A-8CEA6A19624A}"/>
                </a:ext>
              </a:extLst>
            </p:cNvPr>
            <p:cNvSpPr/>
            <p:nvPr userDrawn="1"/>
          </p:nvSpPr>
          <p:spPr>
            <a:xfrm>
              <a:off x="0" y="4891791"/>
              <a:ext cx="9144000" cy="267494"/>
            </a:xfrm>
            <a:prstGeom prst="rect">
              <a:avLst/>
            </a:prstGeom>
            <a:gradFill flip="none" rotWithShape="1">
              <a:gsLst>
                <a:gs pos="4000">
                  <a:srgbClr val="FFFFFF"/>
                </a:gs>
                <a:gs pos="80000">
                  <a:srgbClr val="EA7F25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5331FA7-D605-4813-A93B-1BD9D4C7EF0C}"/>
                </a:ext>
              </a:extLst>
            </p:cNvPr>
            <p:cNvSpPr txBox="1"/>
            <p:nvPr userDrawn="1"/>
          </p:nvSpPr>
          <p:spPr>
            <a:xfrm>
              <a:off x="251520" y="4887039"/>
              <a:ext cx="23464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FFFFFF"/>
                  </a:solidFill>
                </a:rPr>
                <a:t>UE24CS342AA3: Internet of Things</a:t>
              </a:r>
              <a:endParaRPr lang="en-IN" sz="1200" dirty="0">
                <a:solidFill>
                  <a:srgbClr val="FFFFFF"/>
                </a:solidFill>
              </a:endParaRPr>
            </a:p>
          </p:txBody>
        </p:sp>
      </p:grp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9892E71-1D82-0749-A082-823163359B18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51520" y="688928"/>
            <a:ext cx="8471338" cy="4119661"/>
          </a:xfrm>
        </p:spPr>
        <p:txBody>
          <a:bodyPr>
            <a:normAutofit/>
          </a:bodyPr>
          <a:lstStyle>
            <a:lvl1pPr marL="358775" indent="-358775">
              <a:lnSpc>
                <a:spcPct val="100000"/>
              </a:lnSpc>
              <a:buClr>
                <a:srgbClr val="3A3A3A"/>
              </a:buClr>
              <a:buFont typeface=".Hiragino Kaku Gothic Interface W3"/>
              <a:buChar char="☞"/>
              <a:tabLst/>
              <a:defRPr sz="2400">
                <a:solidFill>
                  <a:srgbClr val="3A3A3A"/>
                </a:solidFill>
              </a:defRPr>
            </a:lvl1pPr>
            <a:lvl2pPr marL="669925" indent="-327025">
              <a:lnSpc>
                <a:spcPct val="100000"/>
              </a:lnSpc>
              <a:tabLst/>
              <a:defRPr sz="2400">
                <a:solidFill>
                  <a:srgbClr val="3A3A3A"/>
                </a:solidFill>
              </a:defRPr>
            </a:lvl2pPr>
            <a:lvl3pPr marL="1022350" indent="-336550">
              <a:lnSpc>
                <a:spcPct val="100000"/>
              </a:lnSpc>
              <a:buClr>
                <a:srgbClr val="3A3A3A"/>
              </a:buClr>
              <a:buSzPct val="80000"/>
              <a:buFont typeface="Zapf Dingbats"/>
              <a:buChar char="✑"/>
              <a:tabLst/>
              <a:defRPr sz="2000">
                <a:solidFill>
                  <a:srgbClr val="3A3A3A"/>
                </a:solidFill>
              </a:defRPr>
            </a:lvl3pPr>
            <a:lvl4pPr marL="1290638" indent="-261938">
              <a:lnSpc>
                <a:spcPct val="100000"/>
              </a:lnSpc>
              <a:tabLst/>
              <a:defRPr sz="2000">
                <a:solidFill>
                  <a:srgbClr val="3A3A3A"/>
                </a:solidFill>
              </a:defRPr>
            </a:lvl4pPr>
            <a:lvl5pPr marL="1600200" indent="-228600">
              <a:lnSpc>
                <a:spcPct val="100000"/>
              </a:lnSpc>
              <a:tabLst>
                <a:tab pos="1550988" algn="l"/>
              </a:tabLst>
              <a:defRPr sz="2000">
                <a:solidFill>
                  <a:srgbClr val="3A3A3A"/>
                </a:solidFill>
              </a:defRPr>
            </a:lvl5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3FD4890F-186C-473B-B065-3993B7EC0948}"/>
              </a:ext>
            </a:extLst>
          </p:cNvPr>
          <p:cNvSpPr>
            <a:spLocks noGrp="1"/>
          </p:cNvSpPr>
          <p:nvPr userDrawn="1">
            <p:ph type="sldNum" idx="11"/>
          </p:nvPr>
        </p:nvSpPr>
        <p:spPr>
          <a:xfrm>
            <a:off x="8472458" y="4850191"/>
            <a:ext cx="548700" cy="267494"/>
          </a:xfrm>
        </p:spPr>
        <p:txBody>
          <a:bodyPr/>
          <a:lstStyle>
            <a:lvl1pPr>
              <a:defRPr b="0" i="0"/>
            </a:lvl1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1DCAA897-9A3F-7A49-2F86-939515F2853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119951"/>
            <a:ext cx="723958" cy="314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PES University">
            <a:extLst>
              <a:ext uri="{FF2B5EF4-FFF2-40B4-BE49-F238E27FC236}">
                <a16:creationId xmlns:a16="http://schemas.microsoft.com/office/drawing/2014/main" id="{01A5C11B-1ED6-AF27-1C25-7EAB941736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0646" y="113277"/>
            <a:ext cx="651617" cy="314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59667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38" userDrawn="1">
          <p15:clr>
            <a:srgbClr val="FBAE40"/>
          </p15:clr>
        </p15:guide>
        <p15:guide id="2" pos="20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-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0C3B69E6-7143-48D1-B0CA-E73DE6CD4079}"/>
              </a:ext>
            </a:extLst>
          </p:cNvPr>
          <p:cNvGrpSpPr/>
          <p:nvPr userDrawn="1"/>
        </p:nvGrpSpPr>
        <p:grpSpPr>
          <a:xfrm>
            <a:off x="0" y="4887039"/>
            <a:ext cx="9144000" cy="276999"/>
            <a:chOff x="0" y="4887039"/>
            <a:chExt cx="9144000" cy="276999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6920F28-D683-4850-AF0A-F6A399898A58}"/>
                </a:ext>
              </a:extLst>
            </p:cNvPr>
            <p:cNvSpPr/>
            <p:nvPr userDrawn="1"/>
          </p:nvSpPr>
          <p:spPr>
            <a:xfrm>
              <a:off x="0" y="4891791"/>
              <a:ext cx="9144000" cy="267494"/>
            </a:xfrm>
            <a:prstGeom prst="rect">
              <a:avLst/>
            </a:prstGeom>
            <a:gradFill flip="none" rotWithShape="1">
              <a:gsLst>
                <a:gs pos="4000">
                  <a:srgbClr val="FFFFFF"/>
                </a:gs>
                <a:gs pos="80000">
                  <a:srgbClr val="EA7F25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5D2F33C-8335-45DE-A6B8-91DD53ABCB41}"/>
                </a:ext>
              </a:extLst>
            </p:cNvPr>
            <p:cNvSpPr txBox="1"/>
            <p:nvPr userDrawn="1"/>
          </p:nvSpPr>
          <p:spPr>
            <a:xfrm>
              <a:off x="251520" y="4887039"/>
              <a:ext cx="23464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FFFFFF"/>
                  </a:solidFill>
                </a:rPr>
                <a:t>UE24CS342AA3: Internet of Things</a:t>
              </a:r>
              <a:endParaRPr lang="en-IN" sz="1200" dirty="0">
                <a:solidFill>
                  <a:srgbClr val="FFFFFF"/>
                </a:solidFill>
              </a:endParaRPr>
            </a:p>
          </p:txBody>
        </p:sp>
      </p:grpSp>
      <p:pic>
        <p:nvPicPr>
          <p:cNvPr id="9" name="Google Shape;12;p1">
            <a:extLst>
              <a:ext uri="{FF2B5EF4-FFF2-40B4-BE49-F238E27FC236}">
                <a16:creationId xmlns:a16="http://schemas.microsoft.com/office/drawing/2014/main" id="{333A3772-8DB8-3A49-BF5C-598258395A07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34539" y="44872"/>
            <a:ext cx="258346" cy="363103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BD1083C0-1DB1-4104-90B8-CA3BB02586B7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8472458" y="4850191"/>
            <a:ext cx="548700" cy="267494"/>
          </a:xfrm>
        </p:spPr>
        <p:txBody>
          <a:bodyPr/>
          <a:lstStyle>
            <a:lvl1pPr>
              <a:defRPr b="0" i="0"/>
            </a:lvl1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  <p:sp>
        <p:nvSpPr>
          <p:cNvPr id="26" name="Title Placeholder 3">
            <a:extLst>
              <a:ext uri="{FF2B5EF4-FFF2-40B4-BE49-F238E27FC236}">
                <a16:creationId xmlns:a16="http://schemas.microsoft.com/office/drawing/2014/main" id="{4F624803-B478-40E1-A982-D630A58C98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520" y="8604"/>
            <a:ext cx="7886700" cy="5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800" b="1">
                <a:solidFill>
                  <a:srgbClr val="112344"/>
                </a:solidFill>
                <a:latin typeface="+mn-lt"/>
              </a:defRPr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  <p:cxnSp>
        <p:nvCxnSpPr>
          <p:cNvPr id="27" name="Google Shape;28;p4">
            <a:extLst>
              <a:ext uri="{FF2B5EF4-FFF2-40B4-BE49-F238E27FC236}">
                <a16:creationId xmlns:a16="http://schemas.microsoft.com/office/drawing/2014/main" id="{F57D3194-1109-4B06-A910-8391142B45CB}"/>
              </a:ext>
            </a:extLst>
          </p:cNvPr>
          <p:cNvCxnSpPr>
            <a:cxnSpLocks/>
          </p:cNvCxnSpPr>
          <p:nvPr userDrawn="1"/>
        </p:nvCxnSpPr>
        <p:spPr>
          <a:xfrm>
            <a:off x="244894" y="610581"/>
            <a:ext cx="7004700" cy="0"/>
          </a:xfrm>
          <a:prstGeom prst="straightConnector1">
            <a:avLst/>
          </a:prstGeom>
          <a:noFill/>
          <a:ln w="9525" cap="flat" cmpd="sng">
            <a:solidFill>
              <a:srgbClr val="EA7F2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D93BD558-C88E-49A7-8D07-9D68DEF1E17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520" y="688928"/>
            <a:ext cx="8471338" cy="411966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Clr>
                <a:srgbClr val="3A3A3A"/>
              </a:buClr>
              <a:buFont typeface=".Hiragino Kaku Gothic Interface W3"/>
              <a:buNone/>
              <a:tabLst/>
              <a:defRPr sz="2400">
                <a:solidFill>
                  <a:srgbClr val="3A3A3A"/>
                </a:solidFill>
              </a:defRPr>
            </a:lvl1pPr>
            <a:lvl2pPr marL="669925" indent="-327025">
              <a:lnSpc>
                <a:spcPct val="100000"/>
              </a:lnSpc>
              <a:tabLst/>
              <a:defRPr sz="2400">
                <a:solidFill>
                  <a:srgbClr val="3A3A3A"/>
                </a:solidFill>
              </a:defRPr>
            </a:lvl2pPr>
            <a:lvl3pPr marL="1022350" indent="-336550">
              <a:lnSpc>
                <a:spcPct val="100000"/>
              </a:lnSpc>
              <a:buClr>
                <a:srgbClr val="3A3A3A"/>
              </a:buClr>
              <a:buSzPct val="80000"/>
              <a:buFont typeface="Zapf Dingbats"/>
              <a:buChar char="✑"/>
              <a:tabLst/>
              <a:defRPr sz="2000">
                <a:solidFill>
                  <a:srgbClr val="3A3A3A"/>
                </a:solidFill>
              </a:defRPr>
            </a:lvl3pPr>
            <a:lvl4pPr marL="1290638" indent="-261938">
              <a:lnSpc>
                <a:spcPct val="100000"/>
              </a:lnSpc>
              <a:tabLst/>
              <a:defRPr sz="2000">
                <a:solidFill>
                  <a:srgbClr val="3A3A3A"/>
                </a:solidFill>
              </a:defRPr>
            </a:lvl4pPr>
            <a:lvl5pPr marL="1600200" indent="-228600">
              <a:lnSpc>
                <a:spcPct val="100000"/>
              </a:lnSpc>
              <a:tabLst>
                <a:tab pos="1550988" algn="l"/>
              </a:tabLst>
              <a:defRPr sz="2000">
                <a:solidFill>
                  <a:srgbClr val="3A3A3A"/>
                </a:solidFill>
              </a:defRPr>
            </a:lvl5pPr>
          </a:lstStyle>
          <a:p>
            <a:pPr lvl="0"/>
            <a:r>
              <a:rPr lang="en-US" dirty="0"/>
              <a:t>Paragraph content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373F7295-AD0E-CAE9-E49E-07BE1C6F3C0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119951"/>
            <a:ext cx="723958" cy="314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PES University">
            <a:extLst>
              <a:ext uri="{FF2B5EF4-FFF2-40B4-BE49-F238E27FC236}">
                <a16:creationId xmlns:a16="http://schemas.microsoft.com/office/drawing/2014/main" id="{BCAD61B9-0A26-BA64-F0E5-396548DB643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0646" y="113277"/>
            <a:ext cx="651617" cy="314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2468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-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Google Shape;49;p7">
            <a:extLst>
              <a:ext uri="{FF2B5EF4-FFF2-40B4-BE49-F238E27FC236}">
                <a16:creationId xmlns:a16="http://schemas.microsoft.com/office/drawing/2014/main" id="{E9079E40-1EFA-7341-9363-EE72301E90CF}"/>
              </a:ext>
            </a:extLst>
          </p:cNvPr>
          <p:cNvCxnSpPr>
            <a:cxnSpLocks/>
          </p:cNvCxnSpPr>
          <p:nvPr userDrawn="1"/>
        </p:nvCxnSpPr>
        <p:spPr>
          <a:xfrm>
            <a:off x="4572000" y="761814"/>
            <a:ext cx="0" cy="3970174"/>
          </a:xfrm>
          <a:prstGeom prst="straightConnector1">
            <a:avLst/>
          </a:prstGeom>
          <a:noFill/>
          <a:ln w="9525" cap="flat" cmpd="sng">
            <a:solidFill>
              <a:srgbClr val="E69138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DB2F1857-34DC-4D81-B4C1-320E6986973D}"/>
              </a:ext>
            </a:extLst>
          </p:cNvPr>
          <p:cNvGrpSpPr/>
          <p:nvPr userDrawn="1"/>
        </p:nvGrpSpPr>
        <p:grpSpPr>
          <a:xfrm>
            <a:off x="0" y="4887039"/>
            <a:ext cx="9144000" cy="276999"/>
            <a:chOff x="0" y="4887039"/>
            <a:chExt cx="9144000" cy="276999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BE100DE-1B42-47E5-BC27-3C80E327ABAD}"/>
                </a:ext>
              </a:extLst>
            </p:cNvPr>
            <p:cNvSpPr/>
            <p:nvPr userDrawn="1"/>
          </p:nvSpPr>
          <p:spPr>
            <a:xfrm>
              <a:off x="0" y="4891791"/>
              <a:ext cx="9144000" cy="267494"/>
            </a:xfrm>
            <a:prstGeom prst="rect">
              <a:avLst/>
            </a:prstGeom>
            <a:gradFill flip="none" rotWithShape="1">
              <a:gsLst>
                <a:gs pos="4000">
                  <a:srgbClr val="FFFFFF"/>
                </a:gs>
                <a:gs pos="80000">
                  <a:srgbClr val="EA7F25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B6BB649-1BC8-4767-AEA5-BB4F6CC37A7A}"/>
                </a:ext>
              </a:extLst>
            </p:cNvPr>
            <p:cNvSpPr txBox="1"/>
            <p:nvPr userDrawn="1"/>
          </p:nvSpPr>
          <p:spPr>
            <a:xfrm>
              <a:off x="251520" y="4887039"/>
              <a:ext cx="23464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FFFFFF"/>
                  </a:solidFill>
                </a:rPr>
                <a:t>UE24CS342AA3: Internet of Things</a:t>
              </a:r>
              <a:endParaRPr lang="en-IN" sz="1200" dirty="0">
                <a:solidFill>
                  <a:srgbClr val="FFFFFF"/>
                </a:solidFill>
              </a:endParaRPr>
            </a:p>
          </p:txBody>
        </p:sp>
      </p:grp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5ACF3C1C-9E80-490E-B4B4-44358DB00604}"/>
              </a:ext>
            </a:extLst>
          </p:cNvPr>
          <p:cNvSpPr>
            <a:spLocks noGrp="1"/>
          </p:cNvSpPr>
          <p:nvPr userDrawn="1">
            <p:ph type="sldNum" idx="11"/>
          </p:nvPr>
        </p:nvSpPr>
        <p:spPr>
          <a:xfrm>
            <a:off x="8472458" y="4850191"/>
            <a:ext cx="548700" cy="267494"/>
          </a:xfrm>
        </p:spPr>
        <p:txBody>
          <a:bodyPr/>
          <a:lstStyle>
            <a:lvl1pPr>
              <a:defRPr b="0" i="0"/>
            </a:lvl1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  <p:sp>
        <p:nvSpPr>
          <p:cNvPr id="20" name="Title Placeholder 3">
            <a:extLst>
              <a:ext uri="{FF2B5EF4-FFF2-40B4-BE49-F238E27FC236}">
                <a16:creationId xmlns:a16="http://schemas.microsoft.com/office/drawing/2014/main" id="{BBB76A93-2ADF-4EBD-9EDE-E50DD20F693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51520" y="8604"/>
            <a:ext cx="7886700" cy="5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800" b="1">
                <a:solidFill>
                  <a:srgbClr val="112344"/>
                </a:solidFill>
                <a:latin typeface="+mn-lt"/>
              </a:defRPr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  <p:cxnSp>
        <p:nvCxnSpPr>
          <p:cNvPr id="21" name="Google Shape;28;p4">
            <a:extLst>
              <a:ext uri="{FF2B5EF4-FFF2-40B4-BE49-F238E27FC236}">
                <a16:creationId xmlns:a16="http://schemas.microsoft.com/office/drawing/2014/main" id="{A47353B5-FB33-4269-854E-2CF951A6142D}"/>
              </a:ext>
            </a:extLst>
          </p:cNvPr>
          <p:cNvCxnSpPr>
            <a:cxnSpLocks/>
          </p:cNvCxnSpPr>
          <p:nvPr userDrawn="1"/>
        </p:nvCxnSpPr>
        <p:spPr>
          <a:xfrm>
            <a:off x="244894" y="610581"/>
            <a:ext cx="7004700" cy="0"/>
          </a:xfrm>
          <a:prstGeom prst="straightConnector1">
            <a:avLst/>
          </a:prstGeom>
          <a:noFill/>
          <a:ln w="9525" cap="flat" cmpd="sng">
            <a:solidFill>
              <a:srgbClr val="EA7F2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55042C58-545C-4A34-974A-CCB5290726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520" y="688928"/>
            <a:ext cx="4176464" cy="4119661"/>
          </a:xfrm>
        </p:spPr>
        <p:txBody>
          <a:bodyPr>
            <a:normAutofit/>
          </a:bodyPr>
          <a:lstStyle>
            <a:lvl1pPr marL="358775" indent="-358775">
              <a:lnSpc>
                <a:spcPct val="100000"/>
              </a:lnSpc>
              <a:buClr>
                <a:srgbClr val="3A3A3A"/>
              </a:buClr>
              <a:buFont typeface=".Hiragino Kaku Gothic Interface W3"/>
              <a:buChar char="☞"/>
              <a:tabLst/>
              <a:defRPr sz="2400">
                <a:solidFill>
                  <a:srgbClr val="3A3A3A"/>
                </a:solidFill>
              </a:defRPr>
            </a:lvl1pPr>
            <a:lvl2pPr marL="669925" indent="-327025">
              <a:lnSpc>
                <a:spcPct val="100000"/>
              </a:lnSpc>
              <a:tabLst/>
              <a:defRPr sz="2400">
                <a:solidFill>
                  <a:srgbClr val="3A3A3A"/>
                </a:solidFill>
              </a:defRPr>
            </a:lvl2pPr>
            <a:lvl3pPr marL="1022350" indent="-336550">
              <a:lnSpc>
                <a:spcPct val="100000"/>
              </a:lnSpc>
              <a:buClr>
                <a:srgbClr val="3A3A3A"/>
              </a:buClr>
              <a:buSzPct val="80000"/>
              <a:buFont typeface="Zapf Dingbats"/>
              <a:buChar char="✑"/>
              <a:tabLst/>
              <a:defRPr sz="2000">
                <a:solidFill>
                  <a:srgbClr val="3A3A3A"/>
                </a:solidFill>
              </a:defRPr>
            </a:lvl3pPr>
            <a:lvl4pPr marL="1290638" indent="-261938">
              <a:lnSpc>
                <a:spcPct val="100000"/>
              </a:lnSpc>
              <a:tabLst/>
              <a:defRPr sz="2000">
                <a:solidFill>
                  <a:srgbClr val="3A3A3A"/>
                </a:solidFill>
              </a:defRPr>
            </a:lvl4pPr>
            <a:lvl5pPr marL="1600200" indent="-228600">
              <a:lnSpc>
                <a:spcPct val="100000"/>
              </a:lnSpc>
              <a:tabLst>
                <a:tab pos="1550988" algn="l"/>
              </a:tabLst>
              <a:defRPr sz="2000">
                <a:solidFill>
                  <a:srgbClr val="3A3A3A"/>
                </a:solidFill>
              </a:defRPr>
            </a:lvl5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C17A7620-340D-4E2E-8104-12D1460CB6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13785" y="683267"/>
            <a:ext cx="4176464" cy="4119661"/>
          </a:xfrm>
        </p:spPr>
        <p:txBody>
          <a:bodyPr>
            <a:normAutofit/>
          </a:bodyPr>
          <a:lstStyle>
            <a:lvl1pPr marL="358775" indent="-358775">
              <a:lnSpc>
                <a:spcPct val="100000"/>
              </a:lnSpc>
              <a:buClr>
                <a:srgbClr val="3A3A3A"/>
              </a:buClr>
              <a:buFont typeface=".Hiragino Kaku Gothic Interface W3"/>
              <a:buChar char="☞"/>
              <a:tabLst/>
              <a:defRPr sz="2400">
                <a:solidFill>
                  <a:srgbClr val="3A3A3A"/>
                </a:solidFill>
              </a:defRPr>
            </a:lvl1pPr>
            <a:lvl2pPr marL="669925" indent="-327025">
              <a:lnSpc>
                <a:spcPct val="100000"/>
              </a:lnSpc>
              <a:tabLst/>
              <a:defRPr sz="2400">
                <a:solidFill>
                  <a:srgbClr val="3A3A3A"/>
                </a:solidFill>
              </a:defRPr>
            </a:lvl2pPr>
            <a:lvl3pPr marL="1022350" indent="-336550">
              <a:lnSpc>
                <a:spcPct val="100000"/>
              </a:lnSpc>
              <a:buClr>
                <a:srgbClr val="3A3A3A"/>
              </a:buClr>
              <a:buSzPct val="80000"/>
              <a:buFont typeface="Zapf Dingbats"/>
              <a:buChar char="✑"/>
              <a:tabLst/>
              <a:defRPr sz="2000">
                <a:solidFill>
                  <a:srgbClr val="3A3A3A"/>
                </a:solidFill>
              </a:defRPr>
            </a:lvl3pPr>
            <a:lvl4pPr marL="1290638" indent="-261938">
              <a:lnSpc>
                <a:spcPct val="100000"/>
              </a:lnSpc>
              <a:tabLst/>
              <a:defRPr sz="2000">
                <a:solidFill>
                  <a:srgbClr val="3A3A3A"/>
                </a:solidFill>
              </a:defRPr>
            </a:lvl4pPr>
            <a:lvl5pPr marL="1600200" indent="-228600">
              <a:lnSpc>
                <a:spcPct val="100000"/>
              </a:lnSpc>
              <a:tabLst>
                <a:tab pos="1550988" algn="l"/>
              </a:tabLst>
              <a:defRPr sz="2000">
                <a:solidFill>
                  <a:srgbClr val="3A3A3A"/>
                </a:solidFill>
              </a:defRPr>
            </a:lvl5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E2F9BB69-C874-8C2F-565B-A485C630784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119951"/>
            <a:ext cx="723958" cy="314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PES University">
            <a:extLst>
              <a:ext uri="{FF2B5EF4-FFF2-40B4-BE49-F238E27FC236}">
                <a16:creationId xmlns:a16="http://schemas.microsoft.com/office/drawing/2014/main" id="{56C6B6AF-8EF7-8CE4-D6AE-199BFDF7DF1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0646" y="113277"/>
            <a:ext cx="651617" cy="314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3990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- Image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82FA4622-7C89-4DF6-8413-BE1FD4D1AC7B}"/>
              </a:ext>
            </a:extLst>
          </p:cNvPr>
          <p:cNvGrpSpPr/>
          <p:nvPr userDrawn="1"/>
        </p:nvGrpSpPr>
        <p:grpSpPr>
          <a:xfrm>
            <a:off x="0" y="4887039"/>
            <a:ext cx="9144000" cy="276999"/>
            <a:chOff x="0" y="4887039"/>
            <a:chExt cx="9144000" cy="276999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2D27354-1B96-4B2B-B7B6-C47AE43E10DC}"/>
                </a:ext>
              </a:extLst>
            </p:cNvPr>
            <p:cNvSpPr/>
            <p:nvPr userDrawn="1"/>
          </p:nvSpPr>
          <p:spPr>
            <a:xfrm>
              <a:off x="0" y="4891791"/>
              <a:ext cx="9144000" cy="267494"/>
            </a:xfrm>
            <a:prstGeom prst="rect">
              <a:avLst/>
            </a:prstGeom>
            <a:gradFill flip="none" rotWithShape="1">
              <a:gsLst>
                <a:gs pos="4000">
                  <a:srgbClr val="FFFFFF"/>
                </a:gs>
                <a:gs pos="80000">
                  <a:srgbClr val="EA7F25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7647F6C-1269-4071-A5E2-A99F17978909}"/>
                </a:ext>
              </a:extLst>
            </p:cNvPr>
            <p:cNvSpPr txBox="1"/>
            <p:nvPr userDrawn="1"/>
          </p:nvSpPr>
          <p:spPr>
            <a:xfrm>
              <a:off x="251520" y="4887039"/>
              <a:ext cx="23464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FFFFFF"/>
                  </a:solidFill>
                </a:rPr>
                <a:t>UE24CS342AA3: Internet of Things</a:t>
              </a:r>
              <a:endParaRPr lang="en-IN" sz="1200" dirty="0">
                <a:solidFill>
                  <a:srgbClr val="FFFFFF"/>
                </a:solidFill>
              </a:endParaRPr>
            </a:p>
          </p:txBody>
        </p:sp>
      </p:grp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928890D4-9B88-4B94-81EA-1D502D82C6C1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8472458" y="4850191"/>
            <a:ext cx="548700" cy="267494"/>
          </a:xfrm>
        </p:spPr>
        <p:txBody>
          <a:bodyPr/>
          <a:lstStyle>
            <a:lvl1pPr>
              <a:defRPr b="0" i="0"/>
            </a:lvl1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  <p:cxnSp>
        <p:nvCxnSpPr>
          <p:cNvPr id="14" name="Google Shape;49;p7">
            <a:extLst>
              <a:ext uri="{FF2B5EF4-FFF2-40B4-BE49-F238E27FC236}">
                <a16:creationId xmlns:a16="http://schemas.microsoft.com/office/drawing/2014/main" id="{83104E51-783D-48C3-A375-4F546BE12BBD}"/>
              </a:ext>
            </a:extLst>
          </p:cNvPr>
          <p:cNvCxnSpPr>
            <a:cxnSpLocks/>
          </p:cNvCxnSpPr>
          <p:nvPr userDrawn="1"/>
        </p:nvCxnSpPr>
        <p:spPr>
          <a:xfrm>
            <a:off x="4572000" y="761814"/>
            <a:ext cx="0" cy="3970174"/>
          </a:xfrm>
          <a:prstGeom prst="straightConnector1">
            <a:avLst/>
          </a:prstGeom>
          <a:noFill/>
          <a:ln w="9525" cap="flat" cmpd="sng">
            <a:solidFill>
              <a:srgbClr val="E6913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Title Placeholder 3">
            <a:extLst>
              <a:ext uri="{FF2B5EF4-FFF2-40B4-BE49-F238E27FC236}">
                <a16:creationId xmlns:a16="http://schemas.microsoft.com/office/drawing/2014/main" id="{55F23BEF-E00E-48F0-BEF2-18DDB154CF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520" y="8604"/>
            <a:ext cx="7886700" cy="5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800" b="1">
                <a:solidFill>
                  <a:srgbClr val="112344"/>
                </a:solidFill>
                <a:latin typeface="+mn-lt"/>
              </a:defRPr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  <p:cxnSp>
        <p:nvCxnSpPr>
          <p:cNvPr id="16" name="Google Shape;28;p4">
            <a:extLst>
              <a:ext uri="{FF2B5EF4-FFF2-40B4-BE49-F238E27FC236}">
                <a16:creationId xmlns:a16="http://schemas.microsoft.com/office/drawing/2014/main" id="{DBF3F7B3-79E8-4AEB-B20E-F2C9BAB90849}"/>
              </a:ext>
            </a:extLst>
          </p:cNvPr>
          <p:cNvCxnSpPr>
            <a:cxnSpLocks/>
          </p:cNvCxnSpPr>
          <p:nvPr userDrawn="1"/>
        </p:nvCxnSpPr>
        <p:spPr>
          <a:xfrm>
            <a:off x="244894" y="610581"/>
            <a:ext cx="7004700" cy="0"/>
          </a:xfrm>
          <a:prstGeom prst="straightConnector1">
            <a:avLst/>
          </a:prstGeom>
          <a:noFill/>
          <a:ln w="9525" cap="flat" cmpd="sng">
            <a:solidFill>
              <a:srgbClr val="EA7F2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C817BFC9-7A87-4588-BED2-254B7521B9D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520" y="688928"/>
            <a:ext cx="4176464" cy="4119661"/>
          </a:xfrm>
        </p:spPr>
        <p:txBody>
          <a:bodyPr>
            <a:normAutofit/>
          </a:bodyPr>
          <a:lstStyle>
            <a:lvl1pPr marL="358775" indent="-358775">
              <a:lnSpc>
                <a:spcPct val="100000"/>
              </a:lnSpc>
              <a:buClr>
                <a:srgbClr val="3A3A3A"/>
              </a:buClr>
              <a:buFont typeface=".Hiragino Kaku Gothic Interface W3"/>
              <a:buChar char="☞"/>
              <a:tabLst/>
              <a:defRPr sz="2400">
                <a:solidFill>
                  <a:srgbClr val="3A3A3A"/>
                </a:solidFill>
              </a:defRPr>
            </a:lvl1pPr>
            <a:lvl2pPr marL="669925" indent="-327025">
              <a:lnSpc>
                <a:spcPct val="100000"/>
              </a:lnSpc>
              <a:tabLst/>
              <a:defRPr sz="2400">
                <a:solidFill>
                  <a:srgbClr val="3A3A3A"/>
                </a:solidFill>
              </a:defRPr>
            </a:lvl2pPr>
            <a:lvl3pPr marL="1022350" indent="-336550">
              <a:lnSpc>
                <a:spcPct val="100000"/>
              </a:lnSpc>
              <a:buClr>
                <a:srgbClr val="3A3A3A"/>
              </a:buClr>
              <a:buSzPct val="80000"/>
              <a:buFont typeface="Zapf Dingbats"/>
              <a:buChar char="✑"/>
              <a:tabLst/>
              <a:defRPr sz="2000">
                <a:solidFill>
                  <a:srgbClr val="3A3A3A"/>
                </a:solidFill>
              </a:defRPr>
            </a:lvl3pPr>
            <a:lvl4pPr marL="1290638" indent="-261938">
              <a:lnSpc>
                <a:spcPct val="100000"/>
              </a:lnSpc>
              <a:tabLst/>
              <a:defRPr sz="2000">
                <a:solidFill>
                  <a:srgbClr val="3A3A3A"/>
                </a:solidFill>
              </a:defRPr>
            </a:lvl4pPr>
            <a:lvl5pPr marL="1600200" indent="-228600">
              <a:lnSpc>
                <a:spcPct val="100000"/>
              </a:lnSpc>
              <a:tabLst>
                <a:tab pos="1550988" algn="l"/>
              </a:tabLst>
              <a:defRPr sz="2000">
                <a:solidFill>
                  <a:srgbClr val="3A3A3A"/>
                </a:solidFill>
              </a:defRPr>
            </a:lvl5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E7B1FEAD-9E4A-5F77-2F94-62B9A095E9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119951"/>
            <a:ext cx="723958" cy="314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PES University">
            <a:extLst>
              <a:ext uri="{FF2B5EF4-FFF2-40B4-BE49-F238E27FC236}">
                <a16:creationId xmlns:a16="http://schemas.microsoft.com/office/drawing/2014/main" id="{F9872049-7016-239B-9E2B-CB9504232C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0646" y="113277"/>
            <a:ext cx="651617" cy="314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735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- Image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46E96101-22EB-4252-8558-483739A6BE32}"/>
              </a:ext>
            </a:extLst>
          </p:cNvPr>
          <p:cNvGrpSpPr/>
          <p:nvPr userDrawn="1"/>
        </p:nvGrpSpPr>
        <p:grpSpPr>
          <a:xfrm>
            <a:off x="0" y="4887039"/>
            <a:ext cx="9144000" cy="276999"/>
            <a:chOff x="0" y="4887039"/>
            <a:chExt cx="9144000" cy="276999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D84AC40-7B09-4ACE-943C-8E7F2B3780E8}"/>
                </a:ext>
              </a:extLst>
            </p:cNvPr>
            <p:cNvSpPr/>
            <p:nvPr userDrawn="1"/>
          </p:nvSpPr>
          <p:spPr>
            <a:xfrm>
              <a:off x="0" y="4891791"/>
              <a:ext cx="9144000" cy="267494"/>
            </a:xfrm>
            <a:prstGeom prst="rect">
              <a:avLst/>
            </a:prstGeom>
            <a:gradFill flip="none" rotWithShape="1">
              <a:gsLst>
                <a:gs pos="4000">
                  <a:srgbClr val="FFFFFF"/>
                </a:gs>
                <a:gs pos="80000">
                  <a:srgbClr val="EA7F25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9320B5B-F398-42B3-B0A8-3AEF759A77E2}"/>
                </a:ext>
              </a:extLst>
            </p:cNvPr>
            <p:cNvSpPr txBox="1"/>
            <p:nvPr userDrawn="1"/>
          </p:nvSpPr>
          <p:spPr>
            <a:xfrm>
              <a:off x="251520" y="4887039"/>
              <a:ext cx="23464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FFFFFF"/>
                  </a:solidFill>
                </a:rPr>
                <a:t>UE24CS342AA3: Internet of Things</a:t>
              </a:r>
              <a:endParaRPr lang="en-IN" sz="1200" dirty="0">
                <a:solidFill>
                  <a:srgbClr val="FFFFFF"/>
                </a:solidFill>
              </a:endParaRPr>
            </a:p>
          </p:txBody>
        </p:sp>
      </p:grp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7E85D1C4-0D16-4D27-8C63-A7DDE4491D18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8472458" y="4850191"/>
            <a:ext cx="548700" cy="267494"/>
          </a:xfrm>
        </p:spPr>
        <p:txBody>
          <a:bodyPr/>
          <a:lstStyle>
            <a:lvl1pPr>
              <a:defRPr b="0" i="0"/>
            </a:lvl1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  <p:cxnSp>
        <p:nvCxnSpPr>
          <p:cNvPr id="15" name="Google Shape;49;p7">
            <a:extLst>
              <a:ext uri="{FF2B5EF4-FFF2-40B4-BE49-F238E27FC236}">
                <a16:creationId xmlns:a16="http://schemas.microsoft.com/office/drawing/2014/main" id="{B120D0BE-AF58-43DA-9FA1-3029B3C808B5}"/>
              </a:ext>
            </a:extLst>
          </p:cNvPr>
          <p:cNvCxnSpPr>
            <a:cxnSpLocks/>
          </p:cNvCxnSpPr>
          <p:nvPr userDrawn="1"/>
        </p:nvCxnSpPr>
        <p:spPr>
          <a:xfrm>
            <a:off x="4572000" y="761814"/>
            <a:ext cx="0" cy="3970174"/>
          </a:xfrm>
          <a:prstGeom prst="straightConnector1">
            <a:avLst/>
          </a:prstGeom>
          <a:noFill/>
          <a:ln w="9525" cap="flat" cmpd="sng">
            <a:solidFill>
              <a:srgbClr val="E6913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Title Placeholder 3">
            <a:extLst>
              <a:ext uri="{FF2B5EF4-FFF2-40B4-BE49-F238E27FC236}">
                <a16:creationId xmlns:a16="http://schemas.microsoft.com/office/drawing/2014/main" id="{ECCF89BB-A87E-4231-909D-BD5C7710EE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520" y="8604"/>
            <a:ext cx="7886700" cy="5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800" b="1">
                <a:solidFill>
                  <a:srgbClr val="112344"/>
                </a:solidFill>
                <a:latin typeface="+mn-lt"/>
              </a:defRPr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  <p:cxnSp>
        <p:nvCxnSpPr>
          <p:cNvPr id="18" name="Google Shape;28;p4">
            <a:extLst>
              <a:ext uri="{FF2B5EF4-FFF2-40B4-BE49-F238E27FC236}">
                <a16:creationId xmlns:a16="http://schemas.microsoft.com/office/drawing/2014/main" id="{5D4664EF-0159-4E2B-8DFF-1F86A0CCA1FA}"/>
              </a:ext>
            </a:extLst>
          </p:cNvPr>
          <p:cNvCxnSpPr>
            <a:cxnSpLocks/>
          </p:cNvCxnSpPr>
          <p:nvPr userDrawn="1"/>
        </p:nvCxnSpPr>
        <p:spPr>
          <a:xfrm>
            <a:off x="244894" y="610581"/>
            <a:ext cx="7004700" cy="0"/>
          </a:xfrm>
          <a:prstGeom prst="straightConnector1">
            <a:avLst/>
          </a:prstGeom>
          <a:noFill/>
          <a:ln w="9525" cap="flat" cmpd="sng">
            <a:solidFill>
              <a:srgbClr val="EA7F2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58930D1E-9181-46A9-BDAE-3415205273D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13785" y="683267"/>
            <a:ext cx="4176464" cy="4119661"/>
          </a:xfrm>
        </p:spPr>
        <p:txBody>
          <a:bodyPr>
            <a:normAutofit/>
          </a:bodyPr>
          <a:lstStyle>
            <a:lvl1pPr marL="358775" indent="-358775">
              <a:lnSpc>
                <a:spcPct val="100000"/>
              </a:lnSpc>
              <a:buClr>
                <a:srgbClr val="3A3A3A"/>
              </a:buClr>
              <a:buFont typeface=".Hiragino Kaku Gothic Interface W3"/>
              <a:buChar char="☞"/>
              <a:tabLst/>
              <a:defRPr sz="2400">
                <a:solidFill>
                  <a:srgbClr val="3A3A3A"/>
                </a:solidFill>
              </a:defRPr>
            </a:lvl1pPr>
            <a:lvl2pPr marL="669925" indent="-327025">
              <a:lnSpc>
                <a:spcPct val="100000"/>
              </a:lnSpc>
              <a:tabLst/>
              <a:defRPr sz="2400">
                <a:solidFill>
                  <a:srgbClr val="3A3A3A"/>
                </a:solidFill>
              </a:defRPr>
            </a:lvl2pPr>
            <a:lvl3pPr marL="1022350" indent="-336550">
              <a:lnSpc>
                <a:spcPct val="100000"/>
              </a:lnSpc>
              <a:buClr>
                <a:srgbClr val="3A3A3A"/>
              </a:buClr>
              <a:buSzPct val="80000"/>
              <a:buFont typeface="Zapf Dingbats"/>
              <a:buChar char="✑"/>
              <a:tabLst/>
              <a:defRPr sz="2000">
                <a:solidFill>
                  <a:srgbClr val="3A3A3A"/>
                </a:solidFill>
              </a:defRPr>
            </a:lvl3pPr>
            <a:lvl4pPr marL="1290638" indent="-261938">
              <a:lnSpc>
                <a:spcPct val="100000"/>
              </a:lnSpc>
              <a:tabLst/>
              <a:defRPr sz="2000">
                <a:solidFill>
                  <a:srgbClr val="3A3A3A"/>
                </a:solidFill>
              </a:defRPr>
            </a:lvl4pPr>
            <a:lvl5pPr marL="1600200" indent="-228600">
              <a:lnSpc>
                <a:spcPct val="100000"/>
              </a:lnSpc>
              <a:tabLst>
                <a:tab pos="1550988" algn="l"/>
              </a:tabLst>
              <a:defRPr sz="2000">
                <a:solidFill>
                  <a:srgbClr val="3A3A3A"/>
                </a:solidFill>
              </a:defRPr>
            </a:lvl5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29D56D90-981C-98A0-DD44-B81DD5FFE6A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119951"/>
            <a:ext cx="723958" cy="314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PES University">
            <a:extLst>
              <a:ext uri="{FF2B5EF4-FFF2-40B4-BE49-F238E27FC236}">
                <a16:creationId xmlns:a16="http://schemas.microsoft.com/office/drawing/2014/main" id="{58925A77-2D7A-6848-51C4-538398EE3E6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0646" y="113277"/>
            <a:ext cx="651617" cy="314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7582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- Image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2FA57A23-A10C-4DB6-863F-7F3A66ABDEE9}"/>
              </a:ext>
            </a:extLst>
          </p:cNvPr>
          <p:cNvGrpSpPr/>
          <p:nvPr userDrawn="1"/>
        </p:nvGrpSpPr>
        <p:grpSpPr>
          <a:xfrm>
            <a:off x="0" y="4887039"/>
            <a:ext cx="9144000" cy="276999"/>
            <a:chOff x="0" y="4887039"/>
            <a:chExt cx="9144000" cy="276999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43B2BEB-D99D-42A7-AA22-1084EF8CECB3}"/>
                </a:ext>
              </a:extLst>
            </p:cNvPr>
            <p:cNvSpPr/>
            <p:nvPr userDrawn="1"/>
          </p:nvSpPr>
          <p:spPr>
            <a:xfrm>
              <a:off x="0" y="4891791"/>
              <a:ext cx="9144000" cy="267494"/>
            </a:xfrm>
            <a:prstGeom prst="rect">
              <a:avLst/>
            </a:prstGeom>
            <a:gradFill flip="none" rotWithShape="1">
              <a:gsLst>
                <a:gs pos="4000">
                  <a:srgbClr val="FFFFFF"/>
                </a:gs>
                <a:gs pos="80000">
                  <a:srgbClr val="EA7F25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B1ABD4D-7A64-43A5-B4EE-AF919F1ED472}"/>
                </a:ext>
              </a:extLst>
            </p:cNvPr>
            <p:cNvSpPr txBox="1"/>
            <p:nvPr userDrawn="1"/>
          </p:nvSpPr>
          <p:spPr>
            <a:xfrm>
              <a:off x="251520" y="4887039"/>
              <a:ext cx="23464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FFFFFF"/>
                  </a:solidFill>
                </a:rPr>
                <a:t>UE24CS342AA3: Internet of Things</a:t>
              </a:r>
              <a:endParaRPr lang="en-IN" sz="1200" dirty="0">
                <a:solidFill>
                  <a:srgbClr val="FFFFFF"/>
                </a:solidFill>
              </a:endParaRPr>
            </a:p>
          </p:txBody>
        </p:sp>
      </p:grp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88F20E45-1646-442F-A645-F84542BB2022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8472458" y="4850191"/>
            <a:ext cx="548700" cy="267494"/>
          </a:xfrm>
        </p:spPr>
        <p:txBody>
          <a:bodyPr/>
          <a:lstStyle>
            <a:lvl1pPr>
              <a:defRPr b="0" i="0"/>
            </a:lvl1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  <p:cxnSp>
        <p:nvCxnSpPr>
          <p:cNvPr id="14" name="Google Shape;49;p7">
            <a:extLst>
              <a:ext uri="{FF2B5EF4-FFF2-40B4-BE49-F238E27FC236}">
                <a16:creationId xmlns:a16="http://schemas.microsoft.com/office/drawing/2014/main" id="{0A1E471A-4D50-4D94-B9EE-02150C7416D6}"/>
              </a:ext>
            </a:extLst>
          </p:cNvPr>
          <p:cNvCxnSpPr>
            <a:cxnSpLocks/>
          </p:cNvCxnSpPr>
          <p:nvPr userDrawn="1"/>
        </p:nvCxnSpPr>
        <p:spPr>
          <a:xfrm>
            <a:off x="4572000" y="761814"/>
            <a:ext cx="0" cy="3970174"/>
          </a:xfrm>
          <a:prstGeom prst="straightConnector1">
            <a:avLst/>
          </a:prstGeom>
          <a:noFill/>
          <a:ln w="9525" cap="flat" cmpd="sng">
            <a:solidFill>
              <a:srgbClr val="E6913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Title Placeholder 3">
            <a:extLst>
              <a:ext uri="{FF2B5EF4-FFF2-40B4-BE49-F238E27FC236}">
                <a16:creationId xmlns:a16="http://schemas.microsoft.com/office/drawing/2014/main" id="{72CF60C8-E33C-4208-BEDE-1889CA1C34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520" y="8604"/>
            <a:ext cx="7886700" cy="5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800" b="1">
                <a:solidFill>
                  <a:srgbClr val="112344"/>
                </a:solidFill>
                <a:latin typeface="+mn-lt"/>
              </a:defRPr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  <p:cxnSp>
        <p:nvCxnSpPr>
          <p:cNvPr id="16" name="Google Shape;28;p4">
            <a:extLst>
              <a:ext uri="{FF2B5EF4-FFF2-40B4-BE49-F238E27FC236}">
                <a16:creationId xmlns:a16="http://schemas.microsoft.com/office/drawing/2014/main" id="{21A27D88-AB45-495F-8405-24968EC3843D}"/>
              </a:ext>
            </a:extLst>
          </p:cNvPr>
          <p:cNvCxnSpPr>
            <a:cxnSpLocks/>
          </p:cNvCxnSpPr>
          <p:nvPr userDrawn="1"/>
        </p:nvCxnSpPr>
        <p:spPr>
          <a:xfrm>
            <a:off x="244894" y="610581"/>
            <a:ext cx="7004700" cy="0"/>
          </a:xfrm>
          <a:prstGeom prst="straightConnector1">
            <a:avLst/>
          </a:prstGeom>
          <a:noFill/>
          <a:ln w="9525" cap="flat" cmpd="sng">
            <a:solidFill>
              <a:srgbClr val="EA7F2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" name="Picture 4">
            <a:extLst>
              <a:ext uri="{FF2B5EF4-FFF2-40B4-BE49-F238E27FC236}">
                <a16:creationId xmlns:a16="http://schemas.microsoft.com/office/drawing/2014/main" id="{4524BE2E-ABE6-3F1C-565A-B63163C82A3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119951"/>
            <a:ext cx="723958" cy="314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PES University">
            <a:extLst>
              <a:ext uri="{FF2B5EF4-FFF2-40B4-BE49-F238E27FC236}">
                <a16:creationId xmlns:a16="http://schemas.microsoft.com/office/drawing/2014/main" id="{EB2AAB54-FFB7-03A1-7CC1-62B731B406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0646" y="113277"/>
            <a:ext cx="651617" cy="314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5391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928E538B-E6DF-4298-8024-1C02714D8364}"/>
              </a:ext>
            </a:extLst>
          </p:cNvPr>
          <p:cNvGrpSpPr/>
          <p:nvPr userDrawn="1"/>
        </p:nvGrpSpPr>
        <p:grpSpPr>
          <a:xfrm>
            <a:off x="0" y="4887039"/>
            <a:ext cx="9144000" cy="276999"/>
            <a:chOff x="0" y="4887039"/>
            <a:chExt cx="9144000" cy="276999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EED300B-D28C-457F-B469-8F153B89CDF3}"/>
                </a:ext>
              </a:extLst>
            </p:cNvPr>
            <p:cNvSpPr/>
            <p:nvPr userDrawn="1"/>
          </p:nvSpPr>
          <p:spPr>
            <a:xfrm>
              <a:off x="0" y="4891791"/>
              <a:ext cx="9144000" cy="267494"/>
            </a:xfrm>
            <a:prstGeom prst="rect">
              <a:avLst/>
            </a:prstGeom>
            <a:gradFill flip="none" rotWithShape="1">
              <a:gsLst>
                <a:gs pos="4000">
                  <a:srgbClr val="FFFFFF"/>
                </a:gs>
                <a:gs pos="80000">
                  <a:srgbClr val="EA7F25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B719326-225E-4893-9C45-E6AF50EA89CE}"/>
                </a:ext>
              </a:extLst>
            </p:cNvPr>
            <p:cNvSpPr txBox="1"/>
            <p:nvPr userDrawn="1"/>
          </p:nvSpPr>
          <p:spPr>
            <a:xfrm>
              <a:off x="251520" y="4887039"/>
              <a:ext cx="23464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FFFFFF"/>
                  </a:solidFill>
                </a:rPr>
                <a:t>UE24CS342AA3: Internet of Things</a:t>
              </a:r>
              <a:endParaRPr lang="en-IN" sz="1200" dirty="0">
                <a:solidFill>
                  <a:srgbClr val="FFFFFF"/>
                </a:solidFill>
              </a:endParaRPr>
            </a:p>
          </p:txBody>
        </p:sp>
      </p:grp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58A0E642-DA07-46BA-8093-B56875A95873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8472458" y="4850191"/>
            <a:ext cx="548700" cy="267494"/>
          </a:xfrm>
        </p:spPr>
        <p:txBody>
          <a:bodyPr/>
          <a:lstStyle>
            <a:lvl1pPr>
              <a:defRPr b="0" i="0"/>
            </a:lvl1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  <p:sp>
        <p:nvSpPr>
          <p:cNvPr id="13" name="Title Placeholder 3">
            <a:extLst>
              <a:ext uri="{FF2B5EF4-FFF2-40B4-BE49-F238E27FC236}">
                <a16:creationId xmlns:a16="http://schemas.microsoft.com/office/drawing/2014/main" id="{B1C82661-D0B6-4D00-9EE8-C026D6AF1E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520" y="8604"/>
            <a:ext cx="7886700" cy="5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800" b="1">
                <a:solidFill>
                  <a:srgbClr val="112344"/>
                </a:solidFill>
                <a:latin typeface="+mn-lt"/>
              </a:defRPr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  <p:cxnSp>
        <p:nvCxnSpPr>
          <p:cNvPr id="14" name="Google Shape;28;p4">
            <a:extLst>
              <a:ext uri="{FF2B5EF4-FFF2-40B4-BE49-F238E27FC236}">
                <a16:creationId xmlns:a16="http://schemas.microsoft.com/office/drawing/2014/main" id="{56619F40-244E-4D27-B099-CD176FC93961}"/>
              </a:ext>
            </a:extLst>
          </p:cNvPr>
          <p:cNvCxnSpPr>
            <a:cxnSpLocks/>
          </p:cNvCxnSpPr>
          <p:nvPr userDrawn="1"/>
        </p:nvCxnSpPr>
        <p:spPr>
          <a:xfrm>
            <a:off x="244894" y="610581"/>
            <a:ext cx="7004700" cy="0"/>
          </a:xfrm>
          <a:prstGeom prst="straightConnector1">
            <a:avLst/>
          </a:prstGeom>
          <a:noFill/>
          <a:ln w="9525" cap="flat" cmpd="sng">
            <a:solidFill>
              <a:srgbClr val="EA7F2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" name="Picture 4">
            <a:extLst>
              <a:ext uri="{FF2B5EF4-FFF2-40B4-BE49-F238E27FC236}">
                <a16:creationId xmlns:a16="http://schemas.microsoft.com/office/drawing/2014/main" id="{0AC48CD0-68B9-AF4B-74F7-7A41EF8401A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119951"/>
            <a:ext cx="723958" cy="314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PES University">
            <a:extLst>
              <a:ext uri="{FF2B5EF4-FFF2-40B4-BE49-F238E27FC236}">
                <a16:creationId xmlns:a16="http://schemas.microsoft.com/office/drawing/2014/main" id="{2F2FE539-B4F9-33E3-211B-FB8A8BA342B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0646" y="113277"/>
            <a:ext cx="651617" cy="314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60279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Logo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7ECAC94-FC20-49AB-8650-D498B334CA39}"/>
              </a:ext>
            </a:extLst>
          </p:cNvPr>
          <p:cNvGrpSpPr/>
          <p:nvPr userDrawn="1"/>
        </p:nvGrpSpPr>
        <p:grpSpPr>
          <a:xfrm>
            <a:off x="0" y="4887039"/>
            <a:ext cx="9144000" cy="276999"/>
            <a:chOff x="0" y="4887039"/>
            <a:chExt cx="9144000" cy="27699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9E7C9D8-B33A-426F-BF74-2C94A77ED408}"/>
                </a:ext>
              </a:extLst>
            </p:cNvPr>
            <p:cNvSpPr/>
            <p:nvPr userDrawn="1"/>
          </p:nvSpPr>
          <p:spPr>
            <a:xfrm>
              <a:off x="0" y="4891791"/>
              <a:ext cx="9144000" cy="267494"/>
            </a:xfrm>
            <a:prstGeom prst="rect">
              <a:avLst/>
            </a:prstGeom>
            <a:gradFill flip="none" rotWithShape="1">
              <a:gsLst>
                <a:gs pos="4000">
                  <a:srgbClr val="FFFFFF"/>
                </a:gs>
                <a:gs pos="80000">
                  <a:srgbClr val="EA7F25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2018957-B096-4599-82AD-C97481BF9005}"/>
                </a:ext>
              </a:extLst>
            </p:cNvPr>
            <p:cNvSpPr txBox="1"/>
            <p:nvPr userDrawn="1"/>
          </p:nvSpPr>
          <p:spPr>
            <a:xfrm>
              <a:off x="251520" y="4887039"/>
              <a:ext cx="23464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FFFFFF"/>
                  </a:solidFill>
                </a:rPr>
                <a:t>UE24CS342AA3: Internet of Things</a:t>
              </a:r>
              <a:endParaRPr lang="en-IN" sz="1200" dirty="0">
                <a:solidFill>
                  <a:srgbClr val="FFFFFF"/>
                </a:solidFill>
              </a:endParaRPr>
            </a:p>
          </p:txBody>
        </p:sp>
      </p:grp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239D3A3E-02FF-4567-BA75-8C6794269FC3}"/>
              </a:ext>
            </a:extLst>
          </p:cNvPr>
          <p:cNvSpPr>
            <a:spLocks noGrp="1"/>
          </p:cNvSpPr>
          <p:nvPr userDrawn="1">
            <p:ph type="sldNum" idx="11"/>
          </p:nvPr>
        </p:nvSpPr>
        <p:spPr>
          <a:xfrm>
            <a:off x="8472458" y="4850191"/>
            <a:ext cx="548700" cy="267494"/>
          </a:xfrm>
        </p:spPr>
        <p:txBody>
          <a:bodyPr/>
          <a:lstStyle>
            <a:lvl1pPr>
              <a:defRPr b="0" i="0"/>
            </a:lvl1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2F655E04-B812-3C77-0DF6-5DB510EC0B0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119951"/>
            <a:ext cx="723958" cy="314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PES University">
            <a:extLst>
              <a:ext uri="{FF2B5EF4-FFF2-40B4-BE49-F238E27FC236}">
                <a16:creationId xmlns:a16="http://schemas.microsoft.com/office/drawing/2014/main" id="{A92A2C60-6B53-2264-BD97-80721CB9F76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0646" y="113277"/>
            <a:ext cx="651617" cy="314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694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02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63182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F1F82B7B-1012-C74A-B7C1-2A74EC375FF5}"/>
              </a:ext>
            </a:extLst>
          </p:cNvPr>
          <p:cNvSpPr txBox="1"/>
          <p:nvPr userDrawn="1"/>
        </p:nvSpPr>
        <p:spPr>
          <a:xfrm>
            <a:off x="2090176" y="452017"/>
            <a:ext cx="4994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EA7F25"/>
                </a:solidFill>
              </a:rPr>
              <a:t>Thank you!</a:t>
            </a: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C7D48846-F553-430C-9DCA-95793FA673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24041" y="2586418"/>
            <a:ext cx="662016" cy="662016"/>
          </a:xfrm>
          <a:prstGeom prst="rect">
            <a:avLst/>
          </a:prstGeom>
        </p:spPr>
      </p:pic>
      <p:sp>
        <p:nvSpPr>
          <p:cNvPr id="18" name="TextBox 17">
            <a:hlinkClick r:id="rId2"/>
            <a:extLst>
              <a:ext uri="{FF2B5EF4-FFF2-40B4-BE49-F238E27FC236}">
                <a16:creationId xmlns:a16="http://schemas.microsoft.com/office/drawing/2014/main" id="{1B1EB317-1F1D-4A6F-824A-C5B9C447F40D}"/>
              </a:ext>
            </a:extLst>
          </p:cNvPr>
          <p:cNvSpPr txBox="1"/>
          <p:nvPr userDrawn="1"/>
        </p:nvSpPr>
        <p:spPr>
          <a:xfrm>
            <a:off x="1814989" y="3251718"/>
            <a:ext cx="1080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1800" u="none" kern="1200" dirty="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isfcr.pesu</a:t>
            </a:r>
            <a:endParaRPr lang="en-US" sz="1800" u="none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4380722-4BAC-4C36-89B7-0D4C5F9F81A8}"/>
              </a:ext>
            </a:extLst>
          </p:cNvPr>
          <p:cNvGrpSpPr/>
          <p:nvPr userDrawn="1"/>
        </p:nvGrpSpPr>
        <p:grpSpPr>
          <a:xfrm>
            <a:off x="6371669" y="2585932"/>
            <a:ext cx="779738" cy="1035118"/>
            <a:chOff x="6993237" y="2485157"/>
            <a:chExt cx="779738" cy="1035118"/>
          </a:xfrm>
        </p:grpSpPr>
        <p:pic>
          <p:nvPicPr>
            <p:cNvPr id="9" name="Picture 8">
              <a:hlinkClick r:id="rId4"/>
              <a:extLst>
                <a:ext uri="{FF2B5EF4-FFF2-40B4-BE49-F238E27FC236}">
                  <a16:creationId xmlns:a16="http://schemas.microsoft.com/office/drawing/2014/main" id="{6BCBCC5C-6143-436E-99AE-134E6DB7F69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7052098" y="2485157"/>
              <a:ext cx="662016" cy="662016"/>
            </a:xfrm>
            <a:prstGeom prst="rect">
              <a:avLst/>
            </a:prstGeom>
          </p:spPr>
        </p:pic>
        <p:sp>
          <p:nvSpPr>
            <p:cNvPr id="19" name="TextBox 18">
              <a:hlinkClick r:id="rId4"/>
              <a:extLst>
                <a:ext uri="{FF2B5EF4-FFF2-40B4-BE49-F238E27FC236}">
                  <a16:creationId xmlns:a16="http://schemas.microsoft.com/office/drawing/2014/main" id="{EB9AD5DE-CE3B-4DEA-8EEE-6B9A18E365BC}"/>
                </a:ext>
              </a:extLst>
            </p:cNvPr>
            <p:cNvSpPr txBox="1"/>
            <p:nvPr userDrawn="1"/>
          </p:nvSpPr>
          <p:spPr>
            <a:xfrm>
              <a:off x="6993237" y="3150943"/>
              <a:ext cx="77973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/>
              <a:r>
                <a:rPr lang="en-US" sz="1800" kern="1200" dirty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rPr>
                <a:t>ISFCR</a:t>
              </a:r>
            </a:p>
          </p:txBody>
        </p:sp>
      </p:grpSp>
      <p:pic>
        <p:nvPicPr>
          <p:cNvPr id="13" name="Picture 12">
            <a:hlinkClick r:id="rId6"/>
            <a:extLst>
              <a:ext uri="{FF2B5EF4-FFF2-40B4-BE49-F238E27FC236}">
                <a16:creationId xmlns:a16="http://schemas.microsoft.com/office/drawing/2014/main" id="{AB491D11-6594-49AE-A8E4-7DA64E778F4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257861" y="2585932"/>
            <a:ext cx="659253" cy="659253"/>
          </a:xfrm>
          <a:prstGeom prst="rect">
            <a:avLst/>
          </a:prstGeom>
        </p:spPr>
      </p:pic>
      <p:sp>
        <p:nvSpPr>
          <p:cNvPr id="20" name="TextBox 19">
            <a:hlinkClick r:id="rId6"/>
            <a:extLst>
              <a:ext uri="{FF2B5EF4-FFF2-40B4-BE49-F238E27FC236}">
                <a16:creationId xmlns:a16="http://schemas.microsoft.com/office/drawing/2014/main" id="{8F653BDB-8B05-48A4-BE05-41E54E5320AA}"/>
              </a:ext>
            </a:extLst>
          </p:cNvPr>
          <p:cNvSpPr txBox="1"/>
          <p:nvPr userDrawn="1"/>
        </p:nvSpPr>
        <p:spPr>
          <a:xfrm>
            <a:off x="3549612" y="3245185"/>
            <a:ext cx="20757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180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www. </a:t>
            </a:r>
            <a:r>
              <a:rPr lang="en-US" sz="1800" kern="1200" dirty="0" err="1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iot.pes.edu</a:t>
            </a:r>
            <a:endParaRPr lang="en-US" sz="18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7B950A-3412-4A5B-ABE6-E0CC001185E7}"/>
              </a:ext>
            </a:extLst>
          </p:cNvPr>
          <p:cNvSpPr txBox="1"/>
          <p:nvPr userDrawn="1"/>
        </p:nvSpPr>
        <p:spPr>
          <a:xfrm>
            <a:off x="2090176" y="1819418"/>
            <a:ext cx="49946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EA7F25"/>
                </a:solidFill>
              </a:rPr>
              <a:t>Follow us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54F7D55C-78C4-100C-F19B-12B215F57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299942"/>
            <a:ext cx="1368152" cy="594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PES University">
            <a:extLst>
              <a:ext uri="{FF2B5EF4-FFF2-40B4-BE49-F238E27FC236}">
                <a16:creationId xmlns:a16="http://schemas.microsoft.com/office/drawing/2014/main" id="{C413C045-43ED-1DC4-5F54-98E45DC8E34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5287" y="4481199"/>
            <a:ext cx="1231441" cy="594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6359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FD579E-16BD-EA4E-BE0A-DBF83E5D0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F792ED-C30C-B745-B771-07115C54C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08C4C-894D-B949-83F1-54C3664B47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0162DD-153C-4143-BB47-F7B5B8C7D3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635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2" r:id="rId2"/>
    <p:sldLayoutId id="2147483663" r:id="rId3"/>
    <p:sldLayoutId id="2147483653" r:id="rId4"/>
    <p:sldLayoutId id="2147483650" r:id="rId5"/>
    <p:sldLayoutId id="2147483661" r:id="rId6"/>
    <p:sldLayoutId id="2147483654" r:id="rId7"/>
    <p:sldLayoutId id="2147483655" r:id="rId8"/>
    <p:sldLayoutId id="2147483656" r:id="rId9"/>
    <p:sldLayoutId id="2147483657" r:id="rId10"/>
    <p:sldLayoutId id="2147483652" r:id="rId11"/>
    <p:sldLayoutId id="2147483658" r:id="rId12"/>
    <p:sldLayoutId id="2147483659" r:id="rId13"/>
    <p:sldLayoutId id="2147483660" r:id="rId1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9097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sz="2000"/>
              <a:t>Indu Radhakrishnan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2000"/>
              <a:t>Time-Series Databases (InfluxDB) &amp; Real-Time Visualization (Grafana)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85000" lnSpcReduction="20000"/>
          </a:bodyPr>
          <a:lstStyle/>
          <a:p>
            <a:r>
              <a:rPr sz="3500" dirty="0"/>
              <a:t>IoT Analytics</a:t>
            </a:r>
          </a:p>
          <a:p>
            <a:r>
              <a:rPr sz="2400" dirty="0">
                <a:solidFill>
                  <a:srgbClr val="0070C0"/>
                </a:solidFill>
              </a:rPr>
              <a:t>Lecture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Today's Session at a Glance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z="1900" b="1" dirty="0"/>
              <a:t>Part 1 - Time-Series Data &amp; Databases </a:t>
            </a:r>
            <a:endParaRPr lang="en-US" sz="1900" b="1" dirty="0"/>
          </a:p>
          <a:p>
            <a:r>
              <a:rPr sz="1900" b="1" dirty="0"/>
              <a:t>Part 2 - </a:t>
            </a:r>
            <a:r>
              <a:rPr sz="1900" b="1" dirty="0" err="1"/>
              <a:t>InfluxDB</a:t>
            </a:r>
            <a:r>
              <a:rPr sz="1900" b="1" dirty="0"/>
              <a:t>: Storing Sensor Data </a:t>
            </a:r>
            <a:endParaRPr sz="1900" dirty="0"/>
          </a:p>
          <a:p>
            <a:r>
              <a:rPr sz="1900" b="1" dirty="0"/>
              <a:t>Hands-on 1 - Write &amp; query sensor data in </a:t>
            </a:r>
            <a:r>
              <a:rPr sz="1900" b="1" dirty="0" err="1"/>
              <a:t>InfluxDB</a:t>
            </a:r>
            <a:r>
              <a:rPr sz="1900" b="1" dirty="0"/>
              <a:t> </a:t>
            </a:r>
            <a:endParaRPr sz="1900" dirty="0"/>
          </a:p>
          <a:p>
            <a:r>
              <a:rPr sz="1900" b="1" dirty="0"/>
              <a:t>Part 3 - Real-Time Visualization with Grafana </a:t>
            </a:r>
            <a:endParaRPr sz="1900" dirty="0"/>
          </a:p>
          <a:p>
            <a:r>
              <a:rPr sz="1900" b="1" dirty="0"/>
              <a:t>Hands-on 2 - Build a live dashboard in Grafana </a:t>
            </a:r>
            <a:endParaRPr sz="1900" dirty="0"/>
          </a:p>
          <a:p>
            <a:r>
              <a:rPr sz="1900" b="1" dirty="0"/>
              <a:t>Wrap-up, Q&amp;A and what's next </a:t>
            </a:r>
            <a:endParaRPr sz="1900" dirty="0"/>
          </a:p>
          <a:p>
            <a:pPr lvl="1"/>
            <a:r>
              <a:rPr sz="1700" dirty="0"/>
              <a:t>Both hands-</a:t>
            </a:r>
            <a:r>
              <a:rPr sz="1700" dirty="0" err="1"/>
              <a:t>ons</a:t>
            </a:r>
            <a:r>
              <a:rPr sz="1700" dirty="0"/>
              <a:t> run in the browser - free accounts, no installs</a:t>
            </a:r>
          </a:p>
        </p:txBody>
      </p:sp>
      <p:sp>
        <p:nvSpPr>
          <p:cNvPr id="90" name="Slide Number Placeholder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3</a:t>
            </a:fld>
            <a:endParaRPr lang="e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Learning Outcomes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z="2000" dirty="0"/>
              <a:t>By the end of this session you will be able to:</a:t>
            </a:r>
          </a:p>
          <a:p>
            <a:r>
              <a:rPr sz="2000" dirty="0"/>
              <a:t>Explain what time-series data is and why IoT produces so much of it</a:t>
            </a:r>
          </a:p>
          <a:p>
            <a:r>
              <a:rPr sz="2000" dirty="0"/>
              <a:t>Say why a time-series database beats a regular database for sensor data</a:t>
            </a:r>
          </a:p>
          <a:p>
            <a:r>
              <a:rPr sz="2000" dirty="0"/>
              <a:t>Describe the </a:t>
            </a:r>
            <a:r>
              <a:rPr sz="2000" dirty="0" err="1"/>
              <a:t>InfluxDB</a:t>
            </a:r>
            <a:r>
              <a:rPr sz="2000" dirty="0"/>
              <a:t> data model: table, tags, fields, timestamp</a:t>
            </a:r>
          </a:p>
          <a:p>
            <a:r>
              <a:rPr sz="2000" dirty="0"/>
              <a:t>Write data in line protocol and query it with SQL</a:t>
            </a:r>
          </a:p>
          <a:p>
            <a:r>
              <a:rPr sz="2000" dirty="0"/>
              <a:t>Build a live Grafana dashboard with thresholds</a:t>
            </a:r>
          </a:p>
        </p:txBody>
      </p:sp>
      <p:sp>
        <p:nvSpPr>
          <p:cNvPr id="90" name="Slide Number Placeholder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4</a:t>
            </a:fld>
            <a:endParaRPr lang="e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Quick Recap: Where We Left Off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z="1800"/>
              <a:t>Lecture 1 - the IoT pipeline, from sensor to action</a:t>
            </a:r>
          </a:p>
          <a:p>
            <a:r>
              <a:rPr sz="1800"/>
              <a:t>Lecture 2 - TinyML pulled "Analyze" onto the device</a:t>
            </a:r>
          </a:p>
          <a:p>
            <a:r>
              <a:rPr sz="1800"/>
              <a:t>But results and readings still need a home...</a:t>
            </a:r>
          </a:p>
          <a:p>
            <a:r>
              <a:rPr sz="1800"/>
              <a:t>...and someone has to watch them</a:t>
            </a:r>
          </a:p>
          <a:p>
            <a:r>
              <a:rPr sz="1800" b="1"/>
              <a:t>Today: </a:t>
            </a:r>
            <a:r>
              <a:rPr sz="1800"/>
              <a:t>the Store and Visualize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74920" y="868680"/>
            <a:ext cx="3566160" cy="420624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300" b="1">
                <a:solidFill>
                  <a:srgbClr val="112344"/>
                </a:solidFill>
              </a:rPr>
              <a:t>Sense</a:t>
            </a:r>
            <a:r>
              <a:rPr sz="1100">
                <a:solidFill>
                  <a:srgbClr val="595F69"/>
                </a:solidFill>
              </a:rPr>
              <a:t>  sensor reads</a:t>
            </a:r>
          </a:p>
        </p:txBody>
      </p:sp>
      <p:sp>
        <p:nvSpPr>
          <p:cNvPr id="5" name="Down Arrow 4"/>
          <p:cNvSpPr/>
          <p:nvPr/>
        </p:nvSpPr>
        <p:spPr>
          <a:xfrm>
            <a:off x="6784848" y="1298448"/>
            <a:ext cx="146304" cy="109728"/>
          </a:xfrm>
          <a:prstGeom prst="downArrow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74920" y="1417320"/>
            <a:ext cx="3566160" cy="420624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300" b="1">
                <a:solidFill>
                  <a:srgbClr val="112344"/>
                </a:solidFill>
              </a:rPr>
              <a:t>Ingest</a:t>
            </a:r>
            <a:r>
              <a:rPr sz="1100">
                <a:solidFill>
                  <a:srgbClr val="595F69"/>
                </a:solidFill>
              </a:rPr>
              <a:t>  MQTT / HTTP</a:t>
            </a:r>
          </a:p>
        </p:txBody>
      </p:sp>
      <p:sp>
        <p:nvSpPr>
          <p:cNvPr id="7" name="Down Arrow 6"/>
          <p:cNvSpPr/>
          <p:nvPr/>
        </p:nvSpPr>
        <p:spPr>
          <a:xfrm>
            <a:off x="6784848" y="1847088"/>
            <a:ext cx="146304" cy="109728"/>
          </a:xfrm>
          <a:prstGeom prst="downArrow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74920" y="1965960"/>
            <a:ext cx="3566160" cy="420624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300" b="1">
                <a:solidFill>
                  <a:srgbClr val="112344"/>
                </a:solidFill>
              </a:rPr>
              <a:t>Process</a:t>
            </a:r>
            <a:r>
              <a:rPr sz="1100">
                <a:solidFill>
                  <a:srgbClr val="595F69"/>
                </a:solidFill>
              </a:rPr>
              <a:t>  clean, filter</a:t>
            </a:r>
          </a:p>
        </p:txBody>
      </p:sp>
      <p:sp>
        <p:nvSpPr>
          <p:cNvPr id="9" name="Down Arrow 8"/>
          <p:cNvSpPr/>
          <p:nvPr/>
        </p:nvSpPr>
        <p:spPr>
          <a:xfrm>
            <a:off x="6784848" y="2395728"/>
            <a:ext cx="146304" cy="109728"/>
          </a:xfrm>
          <a:prstGeom prst="downArrow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74920" y="2514600"/>
            <a:ext cx="3566160" cy="420624"/>
          </a:xfrm>
          <a:prstGeom prst="roundRect">
            <a:avLst>
              <a:gd name="adj" fmla="val 20000"/>
            </a:avLst>
          </a:prstGeom>
          <a:solidFill>
            <a:srgbClr val="EA7F26"/>
          </a:solidFill>
          <a:ln w="9525">
            <a:solidFill>
              <a:srgbClr val="EA7F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Store</a:t>
            </a:r>
            <a:r>
              <a:rPr sz="1100">
                <a:solidFill>
                  <a:srgbClr val="FFFFFF"/>
                </a:solidFill>
              </a:rPr>
              <a:t>  time-series DB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6784848" y="2944368"/>
            <a:ext cx="146304" cy="109728"/>
          </a:xfrm>
          <a:prstGeom prst="downArrow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74920" y="3063240"/>
            <a:ext cx="3566160" cy="420624"/>
          </a:xfrm>
          <a:prstGeom prst="roundRect">
            <a:avLst>
              <a:gd name="adj" fmla="val 20000"/>
            </a:avLst>
          </a:prstGeom>
          <a:solidFill>
            <a:srgbClr val="EA7F26"/>
          </a:solidFill>
          <a:ln w="9525">
            <a:solidFill>
              <a:srgbClr val="EA7F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Visualize &amp; Act</a:t>
            </a:r>
            <a:r>
              <a:rPr sz="1100">
                <a:solidFill>
                  <a:srgbClr val="FFFFFF"/>
                </a:solidFill>
              </a:rPr>
              <a:t>  dashboards, alerts</a:t>
            </a:r>
          </a:p>
        </p:txBody>
      </p:sp>
      <p:sp>
        <p:nvSpPr>
          <p:cNvPr id="90" name="Slide Number Placeholder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5</a:t>
            </a:fld>
            <a:endParaRPr lang="e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Part 1: Time-Series Data &amp; Databases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sz="2000">
                <a:solidFill>
                  <a:srgbClr val="EA7F26"/>
                </a:solidFill>
              </a:rPr>
              <a:t>Why IoT data needs its own kind of database</a:t>
            </a:r>
          </a:p>
        </p:txBody>
      </p:sp>
      <p:sp>
        <p:nvSpPr>
          <p:cNvPr id="90" name="Slide Number Placeholder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6</a:t>
            </a:fld>
            <a:endParaRPr lang="e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Time-Series Data?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z="1800" b="1"/>
              <a:t>Definition: </a:t>
            </a:r>
            <a:r>
              <a:rPr sz="1800"/>
              <a:t>Time-series data is a sequence of measurements of the same quantity, recorded over time, in which each measurement is stored with the time at which it was taken.</a:t>
            </a:r>
          </a:p>
          <a:p>
            <a:r>
              <a:rPr sz="1800"/>
              <a:t>Every point = time + value(s) + a little context</a:t>
            </a:r>
          </a:p>
          <a:p>
            <a:r>
              <a:rPr sz="1800"/>
              <a:t>Examples: temperature every 10 s, heart rate, stock price, CPU load</a:t>
            </a:r>
          </a:p>
          <a:p>
            <a:r>
              <a:rPr sz="1800"/>
              <a:t>Mostly appended, almost never updated</a:t>
            </a:r>
          </a:p>
          <a:p>
            <a:r>
              <a:rPr sz="1800"/>
              <a:t>The newest data is the most-queried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83480" y="1097280"/>
            <a:ext cx="3749039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EA7F26"/>
                </a:solidFill>
              </a:rPr>
              <a:t>A time series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83480" y="1389888"/>
            <a:ext cx="3749039" cy="2359152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l"/>
            <a:r>
              <a:rPr sz="1200">
                <a:solidFill>
                  <a:srgbClr val="112344"/>
                </a:solidFill>
                <a:latin typeface="Courier New"/>
              </a:rPr>
              <a:t>time      room     temp</a:t>
            </a:r>
          </a:p>
          <a:p>
            <a:pPr algn="l"/>
            <a:r>
              <a:rPr sz="1200">
                <a:solidFill>
                  <a:srgbClr val="112344"/>
                </a:solidFill>
                <a:latin typeface="Courier New"/>
              </a:rPr>
              <a:t>10:00:00  Kitchen  22.1</a:t>
            </a:r>
          </a:p>
          <a:p>
            <a:pPr algn="l"/>
            <a:r>
              <a:rPr sz="1200">
                <a:solidFill>
                  <a:srgbClr val="112344"/>
                </a:solidFill>
                <a:latin typeface="Courier New"/>
              </a:rPr>
              <a:t>10:00:10  Kitchen  22.3</a:t>
            </a:r>
          </a:p>
          <a:p>
            <a:pPr algn="l"/>
            <a:r>
              <a:rPr sz="1200">
                <a:solidFill>
                  <a:srgbClr val="112344"/>
                </a:solidFill>
                <a:latin typeface="Courier New"/>
              </a:rPr>
              <a:t>10:00:20  Kitchen  22.2</a:t>
            </a:r>
          </a:p>
          <a:p>
            <a:pPr algn="l"/>
            <a:r>
              <a:rPr sz="1200">
                <a:solidFill>
                  <a:srgbClr val="112344"/>
                </a:solidFill>
                <a:latin typeface="Courier New"/>
              </a:rPr>
              <a:t>10:00:30  Kitchen  22.6</a:t>
            </a:r>
          </a:p>
          <a:p>
            <a:pPr algn="l"/>
            <a:r>
              <a:rPr sz="1200">
                <a:solidFill>
                  <a:srgbClr val="112344"/>
                </a:solidFill>
                <a:latin typeface="Courier New"/>
              </a:rPr>
              <a:t>10:00:40  Kitchen  23.0</a:t>
            </a:r>
          </a:p>
          <a:p>
            <a:pPr algn="l"/>
            <a:r>
              <a:rPr sz="1200">
                <a:solidFill>
                  <a:srgbClr val="595F69"/>
                </a:solidFill>
                <a:latin typeface="Courier New"/>
              </a:rPr>
              <a:t>...one row every 10 s, forever</a:t>
            </a:r>
          </a:p>
        </p:txBody>
      </p:sp>
      <p:sp>
        <p:nvSpPr>
          <p:cNvPr id="90" name="Slide Number Placeholder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24157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IoT Data is Time-Series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sz="2000" b="1" dirty="0"/>
              <a:t>Sensor readings - </a:t>
            </a:r>
            <a:r>
              <a:rPr sz="2000" dirty="0"/>
              <a:t>temperature, vibration, power</a:t>
            </a:r>
          </a:p>
          <a:p>
            <a:r>
              <a:rPr sz="2000" b="1" dirty="0"/>
              <a:t>Device health - </a:t>
            </a:r>
            <a:r>
              <a:rPr sz="2000" dirty="0"/>
              <a:t>battery, signal strength, uptime</a:t>
            </a:r>
          </a:p>
          <a:p>
            <a:r>
              <a:rPr sz="2000" b="1" dirty="0"/>
              <a:t>Events - </a:t>
            </a:r>
            <a:r>
              <a:rPr sz="2000" dirty="0"/>
              <a:t>door opened, alarm raised</a:t>
            </a:r>
          </a:p>
          <a:p>
            <a:r>
              <a:rPr sz="2000" dirty="0"/>
              <a:t>It piles up fast - and never stops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83480" y="1143000"/>
            <a:ext cx="3749039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EA7F26"/>
                </a:solidFill>
              </a:rPr>
              <a:t>Back-of-envelope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83480" y="1435608"/>
            <a:ext cx="3749039" cy="1901952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l"/>
            <a:r>
              <a:rPr sz="1400">
                <a:solidFill>
                  <a:srgbClr val="112344"/>
                </a:solidFill>
                <a:latin typeface="Courier New"/>
              </a:rPr>
              <a:t>1,000 sensors</a:t>
            </a:r>
          </a:p>
          <a:p>
            <a:pPr algn="l"/>
            <a:r>
              <a:rPr sz="1400">
                <a:solidFill>
                  <a:srgbClr val="112344"/>
                </a:solidFill>
                <a:latin typeface="Courier New"/>
              </a:rPr>
              <a:t>x 1 reading / second</a:t>
            </a:r>
          </a:p>
          <a:p>
            <a:pPr algn="l"/>
            <a:r>
              <a:rPr sz="1400">
                <a:solidFill>
                  <a:srgbClr val="112344"/>
                </a:solidFill>
                <a:latin typeface="Courier New"/>
              </a:rPr>
              <a:t>x 86,400 seconds / day</a:t>
            </a:r>
          </a:p>
          <a:p>
            <a:pPr algn="l"/>
            <a:r>
              <a:rPr sz="1400">
                <a:solidFill>
                  <a:srgbClr val="112344"/>
                </a:solidFill>
                <a:latin typeface="Courier New"/>
              </a:rPr>
              <a:t> </a:t>
            </a:r>
          </a:p>
          <a:p>
            <a:pPr algn="l"/>
            <a:r>
              <a:rPr sz="1400">
                <a:solidFill>
                  <a:srgbClr val="EA7F26"/>
                </a:solidFill>
                <a:latin typeface="Courier New"/>
              </a:rPr>
              <a:t>= 86.4 million points / day</a:t>
            </a:r>
          </a:p>
        </p:txBody>
      </p:sp>
      <p:sp>
        <p:nvSpPr>
          <p:cNvPr id="90" name="Slide Number Placeholder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8</a:t>
            </a:fld>
            <a:endParaRPr lang="e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Not Just Use a Regular Database?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sz="2000" b="1" dirty="0">
                <a:solidFill>
                  <a:srgbClr val="112344"/>
                </a:solidFill>
              </a:rPr>
              <a:t>Relational DB (MySQL, PostgreSQL)</a:t>
            </a:r>
          </a:p>
          <a:p>
            <a:pPr lvl="1"/>
            <a:r>
              <a:rPr sz="2000" dirty="0"/>
              <a:t>Built for updates and transactions</a:t>
            </a:r>
          </a:p>
          <a:p>
            <a:pPr lvl="1"/>
            <a:r>
              <a:rPr sz="2000" dirty="0"/>
              <a:t>General-purpose indexes</a:t>
            </a:r>
          </a:p>
          <a:p>
            <a:pPr lvl="1"/>
            <a:r>
              <a:rPr sz="2000" dirty="0"/>
              <a:t>Storage grows quickly</a:t>
            </a:r>
          </a:p>
          <a:p>
            <a:pPr lvl="1"/>
            <a:r>
              <a:rPr sz="2000" dirty="0"/>
              <a:t>Time grouping needs hand-written SQL</a:t>
            </a:r>
          </a:p>
          <a:p>
            <a:pPr lvl="1"/>
            <a:r>
              <a:rPr sz="2000" dirty="0"/>
              <a:t>Deleting old data is manual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sz="2000" b="1" dirty="0">
                <a:solidFill>
                  <a:srgbClr val="112344"/>
                </a:solidFill>
              </a:rPr>
              <a:t>Time-series DB (</a:t>
            </a:r>
            <a:r>
              <a:rPr sz="2000" b="1" dirty="0" err="1">
                <a:solidFill>
                  <a:srgbClr val="112344"/>
                </a:solidFill>
              </a:rPr>
              <a:t>InfluxDB</a:t>
            </a:r>
            <a:r>
              <a:rPr sz="2000" b="1" dirty="0">
                <a:solidFill>
                  <a:srgbClr val="112344"/>
                </a:solidFill>
              </a:rPr>
              <a:t>)</a:t>
            </a:r>
          </a:p>
          <a:p>
            <a:pPr lvl="1"/>
            <a:r>
              <a:rPr sz="2000" dirty="0"/>
              <a:t>Built for fast, endless appends</a:t>
            </a:r>
          </a:p>
          <a:p>
            <a:pPr lvl="1"/>
            <a:r>
              <a:rPr sz="2000" dirty="0" err="1"/>
              <a:t>Organised</a:t>
            </a:r>
            <a:r>
              <a:rPr sz="2000" dirty="0"/>
              <a:t> by time first</a:t>
            </a:r>
          </a:p>
          <a:p>
            <a:pPr lvl="1"/>
            <a:r>
              <a:rPr sz="2000" dirty="0"/>
              <a:t>Compresses similar values heavily</a:t>
            </a:r>
          </a:p>
          <a:p>
            <a:pPr lvl="1"/>
            <a:r>
              <a:rPr sz="2000" dirty="0"/>
              <a:t>Built-in time functions (bins, windows)</a:t>
            </a:r>
          </a:p>
          <a:p>
            <a:pPr lvl="1"/>
            <a:r>
              <a:rPr sz="2000" dirty="0"/>
              <a:t>Automatic retention and </a:t>
            </a:r>
            <a:r>
              <a:rPr sz="2000" dirty="0" err="1"/>
              <a:t>downsampling</a:t>
            </a:r>
            <a:endParaRPr sz="2000" dirty="0"/>
          </a:p>
        </p:txBody>
      </p:sp>
      <p:sp>
        <p:nvSpPr>
          <p:cNvPr id="90" name="Slide Number Placeholder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9</a:t>
            </a:fld>
            <a:endParaRPr lang="e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Makes a Time-Series Database Special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b="1" dirty="0"/>
              <a:t>High write speed - </a:t>
            </a:r>
            <a:r>
              <a:rPr dirty="0"/>
              <a:t>millions of points per second on a server</a:t>
            </a:r>
          </a:p>
          <a:p>
            <a:r>
              <a:rPr b="1" dirty="0"/>
              <a:t>Compression - </a:t>
            </a:r>
            <a:r>
              <a:rPr dirty="0" err="1"/>
              <a:t>neighbouring</a:t>
            </a:r>
            <a:r>
              <a:rPr dirty="0"/>
              <a:t> readings look alike, so they pack tightly</a:t>
            </a:r>
          </a:p>
          <a:p>
            <a:r>
              <a:rPr b="1" dirty="0"/>
              <a:t>Time-bucketing - </a:t>
            </a:r>
            <a:r>
              <a:rPr dirty="0"/>
              <a:t>"average per minute" is a one-line query</a:t>
            </a:r>
          </a:p>
          <a:p>
            <a:r>
              <a:rPr b="1" dirty="0"/>
              <a:t>Retention - </a:t>
            </a:r>
            <a:r>
              <a:rPr dirty="0"/>
              <a:t>old raw data expires automatically</a:t>
            </a:r>
          </a:p>
          <a:p>
            <a:r>
              <a:rPr b="1" dirty="0" err="1"/>
              <a:t>Downsampling</a:t>
            </a:r>
            <a:r>
              <a:rPr b="1" dirty="0"/>
              <a:t> - </a:t>
            </a:r>
            <a:r>
              <a:rPr dirty="0"/>
              <a:t>keep hourly averages long after raw data is gone</a:t>
            </a:r>
          </a:p>
        </p:txBody>
      </p:sp>
      <p:sp>
        <p:nvSpPr>
          <p:cNvPr id="90" name="Slide Number Placeholder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10</a:t>
            </a:fld>
            <a:endParaRPr lang="e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Popular Time-Series Databases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b="1" dirty="0" err="1"/>
              <a:t>InfluxDB</a:t>
            </a:r>
            <a:r>
              <a:rPr b="1" dirty="0"/>
              <a:t> - </a:t>
            </a:r>
            <a:r>
              <a:rPr dirty="0"/>
              <a:t>purpose-built TSDB, open source - our tool today</a:t>
            </a:r>
          </a:p>
          <a:p>
            <a:r>
              <a:rPr b="1" dirty="0" err="1"/>
              <a:t>TimescaleDB</a:t>
            </a:r>
            <a:r>
              <a:rPr b="1" dirty="0"/>
              <a:t> - </a:t>
            </a:r>
            <a:r>
              <a:rPr dirty="0"/>
              <a:t>time-series extension for PostgreSQL</a:t>
            </a:r>
          </a:p>
          <a:p>
            <a:r>
              <a:rPr b="1" dirty="0"/>
              <a:t>Prometheus - </a:t>
            </a:r>
            <a:r>
              <a:rPr dirty="0"/>
              <a:t>metrics for servers and software, pulls data from targets</a:t>
            </a:r>
          </a:p>
          <a:p>
            <a:r>
              <a:rPr b="1" dirty="0" err="1"/>
              <a:t>QuestDB</a:t>
            </a:r>
            <a:r>
              <a:rPr b="1" dirty="0"/>
              <a:t> - </a:t>
            </a:r>
            <a:r>
              <a:rPr dirty="0"/>
              <a:t>fast open-source TSDB with SQL</a:t>
            </a:r>
          </a:p>
          <a:p>
            <a:r>
              <a:rPr b="1" dirty="0"/>
              <a:t>Cloud-managed options - </a:t>
            </a:r>
            <a:r>
              <a:rPr dirty="0"/>
              <a:t>from AWS, Azure, Google and </a:t>
            </a:r>
            <a:r>
              <a:rPr dirty="0" err="1"/>
              <a:t>InfluxData</a:t>
            </a:r>
            <a:r>
              <a:rPr dirty="0"/>
              <a:t> itself</a:t>
            </a:r>
          </a:p>
          <a:p>
            <a:pPr lvl="1"/>
            <a:r>
              <a:rPr sz="2000" dirty="0"/>
              <a:t>Same core ideas in all of them - learn one, </a:t>
            </a:r>
            <a:r>
              <a:rPr sz="2000" dirty="0" err="1"/>
              <a:t>recognise</a:t>
            </a:r>
            <a:r>
              <a:rPr sz="2000" dirty="0"/>
              <a:t> the rest</a:t>
            </a:r>
          </a:p>
        </p:txBody>
      </p:sp>
      <p:sp>
        <p:nvSpPr>
          <p:cNvPr id="90" name="Slide Number Placeholder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11</a:t>
            </a:fld>
            <a:endParaRPr lang="e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Part 2: </a:t>
            </a:r>
            <a:r>
              <a:rPr dirty="0" err="1"/>
              <a:t>InfluxDB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sz="2000">
                <a:solidFill>
                  <a:srgbClr val="EA7F26"/>
                </a:solidFill>
              </a:rPr>
              <a:t>Storing sensor data the time-series way</a:t>
            </a:r>
          </a:p>
        </p:txBody>
      </p:sp>
      <p:sp>
        <p:nvSpPr>
          <p:cNvPr id="90" name="Slide Number Placeholder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12</a:t>
            </a:fld>
            <a:endParaRPr lang="e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Meet </a:t>
            </a:r>
            <a:r>
              <a:rPr dirty="0" err="1"/>
              <a:t>InfluxDB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dirty="0"/>
              <a:t>Open-source time-series database from </a:t>
            </a:r>
            <a:r>
              <a:rPr dirty="0" err="1"/>
              <a:t>InfluxData</a:t>
            </a:r>
            <a:r>
              <a:rPr dirty="0"/>
              <a:t>, first released in 2013</a:t>
            </a:r>
          </a:p>
          <a:p>
            <a:r>
              <a:rPr b="1" dirty="0"/>
              <a:t>Current generation: </a:t>
            </a:r>
            <a:r>
              <a:rPr b="1" dirty="0" err="1"/>
              <a:t>InfluxDB</a:t>
            </a:r>
            <a:r>
              <a:rPr b="1" dirty="0"/>
              <a:t> 3 - </a:t>
            </a:r>
            <a:r>
              <a:rPr dirty="0"/>
              <a:t>Core (open source), Enterprise, Cloud</a:t>
            </a:r>
          </a:p>
          <a:p>
            <a:r>
              <a:rPr dirty="0"/>
              <a:t>Built on Apache Arrow, </a:t>
            </a:r>
            <a:r>
              <a:rPr dirty="0" err="1"/>
              <a:t>DataFusion</a:t>
            </a:r>
            <a:r>
              <a:rPr dirty="0"/>
              <a:t> and Parquet - written in Rust</a:t>
            </a:r>
          </a:p>
          <a:p>
            <a:r>
              <a:rPr b="1" dirty="0"/>
              <a:t>Query languages: </a:t>
            </a:r>
            <a:r>
              <a:rPr dirty="0"/>
              <a:t>SQL (and </a:t>
            </a:r>
            <a:r>
              <a:rPr dirty="0" err="1"/>
              <a:t>InfluxQL</a:t>
            </a:r>
            <a:r>
              <a:rPr dirty="0"/>
              <a:t>)</a:t>
            </a:r>
          </a:p>
          <a:p>
            <a:r>
              <a:rPr b="1" dirty="0"/>
              <a:t>Today: </a:t>
            </a:r>
            <a:r>
              <a:rPr dirty="0" err="1"/>
              <a:t>InfluxDB</a:t>
            </a:r>
            <a:r>
              <a:rPr dirty="0"/>
              <a:t> Cloud Serverless - free plan, in the browser</a:t>
            </a:r>
          </a:p>
          <a:p>
            <a:pPr lvl="1"/>
            <a:r>
              <a:rPr sz="2000" dirty="0"/>
              <a:t>Free plan: 2 buckets, 30-day retention, no credit card</a:t>
            </a:r>
          </a:p>
        </p:txBody>
      </p:sp>
      <p:sp>
        <p:nvSpPr>
          <p:cNvPr id="90" name="Slide Number Placeholder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13</a:t>
            </a:fld>
            <a:endParaRPr lang="e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The </a:t>
            </a:r>
            <a:r>
              <a:rPr dirty="0" err="1"/>
              <a:t>InfluxDB</a:t>
            </a:r>
            <a:r>
              <a:rPr dirty="0"/>
              <a:t> Data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51520" y="688928"/>
            <a:ext cx="4464496" cy="4119661"/>
          </a:xfrm>
        </p:spPr>
        <p:txBody>
          <a:bodyPr>
            <a:normAutofit/>
          </a:bodyPr>
          <a:lstStyle/>
          <a:p>
            <a:r>
              <a:rPr sz="2000" b="1" dirty="0"/>
              <a:t>Bucket - </a:t>
            </a:r>
            <a:r>
              <a:rPr sz="2000" dirty="0"/>
              <a:t>the database; has a retention period</a:t>
            </a:r>
          </a:p>
          <a:p>
            <a:r>
              <a:rPr sz="2000" b="1" dirty="0"/>
              <a:t>Table - </a:t>
            </a:r>
            <a:r>
              <a:rPr sz="2000" dirty="0"/>
              <a:t>a group of related data (also called a measurement)</a:t>
            </a:r>
          </a:p>
          <a:p>
            <a:r>
              <a:rPr sz="2000" b="1" dirty="0"/>
              <a:t>Tags - </a:t>
            </a:r>
            <a:r>
              <a:rPr sz="2000" dirty="0"/>
              <a:t>labels that describe the source</a:t>
            </a:r>
          </a:p>
          <a:p>
            <a:r>
              <a:rPr sz="2000" b="1" dirty="0"/>
              <a:t>Fields - </a:t>
            </a:r>
            <a:r>
              <a:rPr sz="2000" dirty="0"/>
              <a:t>the measured values</a:t>
            </a:r>
          </a:p>
          <a:p>
            <a:r>
              <a:rPr sz="2000" b="1" dirty="0"/>
              <a:t>Timestamp - </a:t>
            </a:r>
            <a:r>
              <a:rPr sz="2000" dirty="0"/>
              <a:t>when it was measured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92040" y="1097280"/>
            <a:ext cx="39319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EA7F26"/>
                </a:solidFill>
              </a:rPr>
              <a:t>Table "home"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92040" y="1389888"/>
            <a:ext cx="3931920" cy="2450592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l"/>
            <a:r>
              <a:rPr sz="1100">
                <a:solidFill>
                  <a:srgbClr val="112344"/>
                </a:solidFill>
                <a:latin typeface="Courier New"/>
              </a:rPr>
              <a:t>bucket: lab</a:t>
            </a:r>
          </a:p>
          <a:p>
            <a:pPr algn="l"/>
            <a:r>
              <a:rPr sz="1100">
                <a:solidFill>
                  <a:srgbClr val="112344"/>
                </a:solidFill>
                <a:latin typeface="Courier New"/>
              </a:rPr>
              <a:t> </a:t>
            </a:r>
          </a:p>
          <a:p>
            <a:pPr algn="l"/>
            <a:r>
              <a:rPr sz="1100">
                <a:solidFill>
                  <a:srgbClr val="112344"/>
                </a:solidFill>
                <a:latin typeface="Courier New"/>
              </a:rPr>
              <a:t>time   </a:t>
            </a:r>
            <a:r>
              <a:rPr sz="1100">
                <a:solidFill>
                  <a:srgbClr val="EA7F26"/>
                </a:solidFill>
                <a:latin typeface="Courier New"/>
              </a:rPr>
              <a:t>room     </a:t>
            </a:r>
            <a:r>
              <a:rPr sz="1100">
                <a:solidFill>
                  <a:srgbClr val="0070C0"/>
                </a:solidFill>
                <a:latin typeface="Courier New"/>
              </a:rPr>
              <a:t>temp  hum   co</a:t>
            </a:r>
          </a:p>
          <a:p>
            <a:pPr algn="l"/>
            <a:r>
              <a:rPr sz="1100">
                <a:solidFill>
                  <a:srgbClr val="112344"/>
                </a:solidFill>
                <a:latin typeface="Courier New"/>
              </a:rPr>
              <a:t>10:00  Kitchen  22.1  40.2  0</a:t>
            </a:r>
          </a:p>
          <a:p>
            <a:pPr algn="l"/>
            <a:r>
              <a:rPr sz="1100">
                <a:solidFill>
                  <a:srgbClr val="112344"/>
                </a:solidFill>
                <a:latin typeface="Courier New"/>
              </a:rPr>
              <a:t>10:00  Bedroom  21.0  45.0  0</a:t>
            </a:r>
          </a:p>
          <a:p>
            <a:pPr algn="l"/>
            <a:r>
              <a:rPr sz="1100">
                <a:solidFill>
                  <a:srgbClr val="112344"/>
                </a:solidFill>
                <a:latin typeface="Courier New"/>
              </a:rPr>
              <a:t>10:01  Kitchen  22.4  40.5  0</a:t>
            </a:r>
          </a:p>
          <a:p>
            <a:pPr algn="l"/>
            <a:r>
              <a:rPr sz="1100">
                <a:solidFill>
                  <a:srgbClr val="112344"/>
                </a:solidFill>
                <a:latin typeface="Courier New"/>
              </a:rPr>
              <a:t> </a:t>
            </a:r>
          </a:p>
          <a:p>
            <a:pPr algn="l"/>
            <a:r>
              <a:rPr sz="1100">
                <a:solidFill>
                  <a:srgbClr val="EA7F26"/>
                </a:solidFill>
                <a:latin typeface="Courier New"/>
              </a:rPr>
              <a:t>orange</a:t>
            </a:r>
            <a:r>
              <a:rPr sz="1100">
                <a:solidFill>
                  <a:srgbClr val="595F69"/>
                </a:solidFill>
                <a:latin typeface="Courier New"/>
              </a:rPr>
              <a:t> = tag   </a:t>
            </a:r>
            <a:r>
              <a:rPr sz="1100">
                <a:solidFill>
                  <a:srgbClr val="0070C0"/>
                </a:solidFill>
                <a:latin typeface="Courier New"/>
              </a:rPr>
              <a:t>blue</a:t>
            </a:r>
            <a:r>
              <a:rPr sz="1100">
                <a:solidFill>
                  <a:srgbClr val="595F69"/>
                </a:solidFill>
                <a:latin typeface="Courier New"/>
              </a:rPr>
              <a:t> = fields</a:t>
            </a:r>
          </a:p>
        </p:txBody>
      </p:sp>
      <p:sp>
        <p:nvSpPr>
          <p:cNvPr id="90" name="Slide Number Placeholder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14</a:t>
            </a:fld>
            <a:endParaRPr lang="e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Tags vs Fields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z="1800" b="1">
                <a:solidFill>
                  <a:srgbClr val="112344"/>
                </a:solidFill>
              </a:rPr>
              <a:t>Tags - who / where</a:t>
            </a:r>
          </a:p>
          <a:p>
            <a:r>
              <a:rPr sz="1800"/>
              <a:t>Describe the data source</a:t>
            </a:r>
          </a:p>
          <a:p>
            <a:r>
              <a:rPr sz="1800"/>
              <a:t>Always text</a:t>
            </a:r>
          </a:p>
          <a:p>
            <a:r>
              <a:rPr sz="1800"/>
              <a:t>Used to filter and group</a:t>
            </a:r>
          </a:p>
          <a:p>
            <a:r>
              <a:rPr sz="1800"/>
              <a:t>e.g. room, device_id, site</a:t>
            </a:r>
          </a:p>
          <a:p>
            <a:r>
              <a:rPr sz="1800"/>
              <a:t>Few distinct values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sz="1800" b="1">
                <a:solidFill>
                  <a:srgbClr val="112344"/>
                </a:solidFill>
              </a:rPr>
              <a:t>Fields - what was measured</a:t>
            </a:r>
          </a:p>
          <a:p>
            <a:r>
              <a:rPr sz="1800"/>
              <a:t>The actual readings</a:t>
            </a:r>
          </a:p>
          <a:p>
            <a:r>
              <a:rPr sz="1800"/>
              <a:t>Numbers (or text, true/false)</a:t>
            </a:r>
          </a:p>
          <a:p>
            <a:r>
              <a:rPr sz="1800"/>
              <a:t>Used to average, plot, alert</a:t>
            </a:r>
          </a:p>
          <a:p>
            <a:r>
              <a:rPr sz="1800"/>
              <a:t>e.g. temp, hum, co, battery</a:t>
            </a:r>
          </a:p>
          <a:p>
            <a:r>
              <a:rPr sz="1800"/>
              <a:t>Change with every reading</a:t>
            </a:r>
          </a:p>
        </p:txBody>
      </p:sp>
      <p:sp>
        <p:nvSpPr>
          <p:cNvPr id="90" name="Slide Number Placeholder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15</a:t>
            </a:fld>
            <a:endParaRPr lang="e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Line Protocol: How Data Is Written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1800" dirty="0"/>
              <a:t>Each line of plain text records one data point.</a:t>
            </a:r>
          </a:p>
          <a:p>
            <a:r>
              <a:rPr lang="en-US" sz="1800" dirty="0"/>
              <a:t>A </a:t>
            </a:r>
            <a:r>
              <a:rPr lang="en-US" sz="1800" b="1" dirty="0"/>
              <a:t>comma</a:t>
            </a:r>
            <a:r>
              <a:rPr lang="en-US" sz="1800" dirty="0"/>
              <a:t> separates the table name from each of its tags.</a:t>
            </a:r>
          </a:p>
          <a:p>
            <a:r>
              <a:rPr lang="en-US" sz="1800" dirty="0"/>
              <a:t>A </a:t>
            </a:r>
            <a:r>
              <a:rPr lang="en-US" sz="1800" b="1" dirty="0"/>
              <a:t>space</a:t>
            </a:r>
            <a:r>
              <a:rPr lang="en-US" sz="1800" dirty="0"/>
              <a:t> separates the tags from the fields, and the fields from the timestamp.</a:t>
            </a:r>
          </a:p>
          <a:p>
            <a:r>
              <a:rPr lang="en-US" sz="1800" dirty="0"/>
              <a:t>An </a:t>
            </a:r>
            <a:r>
              <a:rPr lang="en-US" sz="1800" b="1" dirty="0"/>
              <a:t>i</a:t>
            </a:r>
            <a:r>
              <a:rPr lang="en-US" sz="1800" dirty="0"/>
              <a:t> after a number stores it as an integer, as in co=0i.</a:t>
            </a:r>
          </a:p>
          <a:p>
            <a:r>
              <a:rPr lang="en-US" sz="1800" dirty="0"/>
              <a:t>If a line has </a:t>
            </a:r>
            <a:r>
              <a:rPr lang="en-US" sz="1800" b="1" dirty="0"/>
              <a:t>no timestamp</a:t>
            </a:r>
            <a:r>
              <a:rPr lang="en-US" sz="1800" dirty="0"/>
              <a:t>, InfluxDB records the time the data point arrives.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3337560"/>
            <a:ext cx="8138160" cy="109728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l"/>
            <a:r>
              <a:rPr sz="1500">
                <a:solidFill>
                  <a:srgbClr val="112344"/>
                </a:solidFill>
                <a:latin typeface="Courier New"/>
              </a:rPr>
              <a:t>home</a:t>
            </a:r>
            <a:r>
              <a:rPr sz="1500">
                <a:solidFill>
                  <a:srgbClr val="EA7F26"/>
                </a:solidFill>
                <a:latin typeface="Courier New"/>
              </a:rPr>
              <a:t>,room=Kitchen</a:t>
            </a:r>
            <a:r>
              <a:rPr sz="1500">
                <a:solidFill>
                  <a:srgbClr val="0070C0"/>
                </a:solidFill>
                <a:latin typeface="Courier New"/>
              </a:rPr>
              <a:t> temp=22.1,hum=40.2,co=0i</a:t>
            </a:r>
            <a:r>
              <a:rPr sz="1500">
                <a:solidFill>
                  <a:srgbClr val="595F69"/>
                </a:solidFill>
                <a:latin typeface="Courier New"/>
              </a:rPr>
              <a:t> 1790160000</a:t>
            </a:r>
          </a:p>
          <a:p>
            <a:pPr algn="l"/>
            <a:r>
              <a:rPr sz="1500">
                <a:solidFill>
                  <a:srgbClr val="112344"/>
                </a:solidFill>
                <a:latin typeface="Courier New"/>
              </a:rPr>
              <a:t> </a:t>
            </a:r>
          </a:p>
          <a:p>
            <a:pPr algn="l"/>
            <a:r>
              <a:rPr sz="1500">
                <a:solidFill>
                  <a:srgbClr val="112344"/>
                </a:solidFill>
                <a:latin typeface="Courier New"/>
              </a:rPr>
              <a:t>table</a:t>
            </a:r>
            <a:r>
              <a:rPr sz="1500">
                <a:solidFill>
                  <a:srgbClr val="EA7F26"/>
                </a:solidFill>
                <a:latin typeface="Courier New"/>
              </a:rPr>
              <a:t>    tags</a:t>
            </a:r>
            <a:r>
              <a:rPr sz="1500">
                <a:solidFill>
                  <a:srgbClr val="0070C0"/>
                </a:solidFill>
                <a:latin typeface="Courier New"/>
              </a:rPr>
              <a:t>              fields</a:t>
            </a:r>
            <a:r>
              <a:rPr sz="1500">
                <a:solidFill>
                  <a:srgbClr val="595F69"/>
                </a:solidFill>
                <a:latin typeface="Courier New"/>
              </a:rPr>
              <a:t>           timestamp</a:t>
            </a:r>
          </a:p>
        </p:txBody>
      </p:sp>
      <p:sp>
        <p:nvSpPr>
          <p:cNvPr id="90" name="Slide Number Placeholder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16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394175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Getting Data Into </a:t>
            </a:r>
            <a:r>
              <a:rPr dirty="0" err="1"/>
              <a:t>InfluxDB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1700" b="1" dirty="0"/>
              <a:t>Web UI: </a:t>
            </a:r>
            <a:r>
              <a:rPr lang="en-US" sz="1700" dirty="0"/>
              <a:t>you paste line protocol into the browser, as we do in today's lab.</a:t>
            </a:r>
          </a:p>
          <a:p>
            <a:r>
              <a:rPr lang="en-US" sz="1700" b="1" dirty="0"/>
              <a:t>HTTP API &amp; CLI: </a:t>
            </a:r>
            <a:r>
              <a:rPr lang="en-US" sz="1700" dirty="0"/>
              <a:t>any program or terminal command can send lines to InfluxDB.</a:t>
            </a:r>
          </a:p>
          <a:p>
            <a:r>
              <a:rPr lang="en-US" sz="1700" b="1" dirty="0"/>
              <a:t>Client libraries: </a:t>
            </a:r>
            <a:r>
              <a:rPr lang="en-US" sz="1700" dirty="0"/>
              <a:t>programs in Python, JavaScript, Go or Java can write data.</a:t>
            </a:r>
          </a:p>
          <a:p>
            <a:r>
              <a:rPr lang="en-US" sz="1700" b="1" dirty="0"/>
              <a:t>Telegraf: </a:t>
            </a:r>
            <a:r>
              <a:rPr lang="en-US" sz="1700" dirty="0"/>
              <a:t>this agent gathers data from many sources and sends it on.</a:t>
            </a:r>
          </a:p>
          <a:p>
            <a:pPr lvl="1"/>
            <a:r>
              <a:rPr lang="en-US" sz="1500" dirty="0"/>
              <a:t>In a real IoT system, devices publish readings over MQTT, and Telegraf writes them to InfluxDB.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80" y="1005840"/>
            <a:ext cx="3291840" cy="457200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300" b="1">
                <a:solidFill>
                  <a:srgbClr val="112344"/>
                </a:solidFill>
              </a:rPr>
              <a:t>Sensor</a:t>
            </a:r>
            <a:r>
              <a:rPr sz="1100">
                <a:solidFill>
                  <a:srgbClr val="595F69"/>
                </a:solidFill>
              </a:rPr>
              <a:t>  ESP32</a:t>
            </a:r>
          </a:p>
        </p:txBody>
      </p:sp>
      <p:sp>
        <p:nvSpPr>
          <p:cNvPr id="5" name="Down Arrow 4"/>
          <p:cNvSpPr/>
          <p:nvPr/>
        </p:nvSpPr>
        <p:spPr>
          <a:xfrm>
            <a:off x="6784848" y="1472184"/>
            <a:ext cx="146304" cy="164592"/>
          </a:xfrm>
          <a:prstGeom prst="downArrow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212080" y="1645920"/>
            <a:ext cx="3291840" cy="457200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300" b="1">
                <a:solidFill>
                  <a:srgbClr val="112344"/>
                </a:solidFill>
              </a:rPr>
              <a:t>MQTT broker</a:t>
            </a:r>
            <a:r>
              <a:rPr sz="1100">
                <a:solidFill>
                  <a:srgbClr val="595F69"/>
                </a:solidFill>
              </a:rPr>
              <a:t>  Mosquitto</a:t>
            </a:r>
          </a:p>
        </p:txBody>
      </p:sp>
      <p:sp>
        <p:nvSpPr>
          <p:cNvPr id="7" name="Down Arrow 6"/>
          <p:cNvSpPr/>
          <p:nvPr/>
        </p:nvSpPr>
        <p:spPr>
          <a:xfrm>
            <a:off x="6784848" y="2112263"/>
            <a:ext cx="146304" cy="164592"/>
          </a:xfrm>
          <a:prstGeom prst="downArrow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212080" y="2286000"/>
            <a:ext cx="3291840" cy="457200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300" b="1">
                <a:solidFill>
                  <a:srgbClr val="112344"/>
                </a:solidFill>
              </a:rPr>
              <a:t>Telegraf</a:t>
            </a:r>
            <a:r>
              <a:rPr sz="1100">
                <a:solidFill>
                  <a:srgbClr val="595F69"/>
                </a:solidFill>
              </a:rPr>
              <a:t>  collector</a:t>
            </a:r>
          </a:p>
        </p:txBody>
      </p:sp>
      <p:sp>
        <p:nvSpPr>
          <p:cNvPr id="9" name="Down Arrow 8"/>
          <p:cNvSpPr/>
          <p:nvPr/>
        </p:nvSpPr>
        <p:spPr>
          <a:xfrm>
            <a:off x="6784848" y="2752344"/>
            <a:ext cx="146304" cy="164592"/>
          </a:xfrm>
          <a:prstGeom prst="downArrow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212080" y="2926079"/>
            <a:ext cx="3291840" cy="457200"/>
          </a:xfrm>
          <a:prstGeom prst="roundRect">
            <a:avLst>
              <a:gd name="adj" fmla="val 20000"/>
            </a:avLst>
          </a:prstGeom>
          <a:solidFill>
            <a:srgbClr val="EA7F26"/>
          </a:solidFill>
          <a:ln w="9525">
            <a:solidFill>
              <a:srgbClr val="EA7F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InfluxDB</a:t>
            </a:r>
            <a:r>
              <a:rPr sz="1100">
                <a:solidFill>
                  <a:srgbClr val="FFFFFF"/>
                </a:solidFill>
              </a:rPr>
              <a:t>  storage</a:t>
            </a:r>
          </a:p>
        </p:txBody>
      </p:sp>
      <p:sp>
        <p:nvSpPr>
          <p:cNvPr id="90" name="Slide Number Placeholder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17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069871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Querying with SQL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z="1800"/>
              <a:t>Familiar SQL - SELECT, WHERE, GROUP BY</a:t>
            </a:r>
          </a:p>
          <a:p>
            <a:r>
              <a:rPr sz="1800" b="1"/>
              <a:t>time </a:t>
            </a:r>
            <a:r>
              <a:rPr sz="1800"/>
              <a:t>is just another column</a:t>
            </a:r>
          </a:p>
          <a:p>
            <a:r>
              <a:rPr sz="1800"/>
              <a:t>Filter on tags, average the fields</a:t>
            </a:r>
          </a:p>
          <a:p>
            <a:r>
              <a:rPr sz="1800"/>
              <a:t>Results come back as a table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92040" y="868680"/>
            <a:ext cx="3931920" cy="356616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l"/>
            <a:r>
              <a:rPr sz="1200">
                <a:solidFill>
                  <a:srgbClr val="112344"/>
                </a:solidFill>
                <a:latin typeface="Courier New"/>
              </a:rPr>
              <a:t>SELECT time, temp</a:t>
            </a:r>
          </a:p>
          <a:p>
            <a:pPr algn="l"/>
            <a:r>
              <a:rPr sz="1200">
                <a:solidFill>
                  <a:srgbClr val="112344"/>
                </a:solidFill>
                <a:latin typeface="Courier New"/>
              </a:rPr>
              <a:t>FROM home</a:t>
            </a:r>
          </a:p>
          <a:p>
            <a:pPr algn="l"/>
            <a:r>
              <a:rPr sz="1200">
                <a:solidFill>
                  <a:srgbClr val="112344"/>
                </a:solidFill>
                <a:latin typeface="Courier New"/>
              </a:rPr>
              <a:t>WHERE room = 'Kitchen'</a:t>
            </a:r>
          </a:p>
          <a:p>
            <a:pPr algn="l"/>
            <a:r>
              <a:rPr sz="1200">
                <a:solidFill>
                  <a:srgbClr val="112344"/>
                </a:solidFill>
                <a:latin typeface="Courier New"/>
              </a:rPr>
              <a:t>ORDER BY time</a:t>
            </a:r>
          </a:p>
          <a:p>
            <a:pPr algn="l"/>
            <a:r>
              <a:rPr sz="1200">
                <a:solidFill>
                  <a:srgbClr val="112344"/>
                </a:solidFill>
                <a:latin typeface="Courier New"/>
              </a:rPr>
              <a:t> </a:t>
            </a:r>
          </a:p>
          <a:p>
            <a:pPr algn="l"/>
            <a:r>
              <a:rPr sz="1200">
                <a:solidFill>
                  <a:srgbClr val="112344"/>
                </a:solidFill>
                <a:latin typeface="Courier New"/>
              </a:rPr>
              <a:t>SELECT room,</a:t>
            </a:r>
          </a:p>
          <a:p>
            <a:pPr algn="l"/>
            <a:r>
              <a:rPr sz="1200">
                <a:solidFill>
                  <a:srgbClr val="112344"/>
                </a:solidFill>
                <a:latin typeface="Courier New"/>
              </a:rPr>
              <a:t>  AVG(temp) AS avg_temp,</a:t>
            </a:r>
          </a:p>
          <a:p>
            <a:pPr algn="l"/>
            <a:r>
              <a:rPr sz="1200">
                <a:solidFill>
                  <a:srgbClr val="112344"/>
                </a:solidFill>
                <a:latin typeface="Courier New"/>
              </a:rPr>
              <a:t>  MAX(co)   AS max_co</a:t>
            </a:r>
          </a:p>
          <a:p>
            <a:pPr algn="l"/>
            <a:r>
              <a:rPr sz="1200">
                <a:solidFill>
                  <a:srgbClr val="112344"/>
                </a:solidFill>
                <a:latin typeface="Courier New"/>
              </a:rPr>
              <a:t>FROM home</a:t>
            </a:r>
          </a:p>
          <a:p>
            <a:pPr algn="l"/>
            <a:r>
              <a:rPr sz="1200">
                <a:solidFill>
                  <a:srgbClr val="112344"/>
                </a:solidFill>
                <a:latin typeface="Courier New"/>
              </a:rPr>
              <a:t>GROUP BY room</a:t>
            </a:r>
          </a:p>
        </p:txBody>
      </p:sp>
      <p:sp>
        <p:nvSpPr>
          <p:cNvPr id="90" name="Slide Number Placeholder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18</a:t>
            </a:fld>
            <a:endParaRPr lang="e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Time-Bucketing with DATE_BIN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z="1800"/>
              <a:t>Groups readings into fixed time slots</a:t>
            </a:r>
          </a:p>
          <a:p>
            <a:r>
              <a:rPr sz="1800"/>
              <a:t>e.g. 10-second readings into 1-minute averages</a:t>
            </a:r>
          </a:p>
          <a:p>
            <a:r>
              <a:rPr sz="1800"/>
              <a:t>Fewer points to plot, less noise</a:t>
            </a:r>
          </a:p>
          <a:p>
            <a:r>
              <a:rPr sz="1800"/>
              <a:t>The same idea as downsampling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92040" y="914400"/>
            <a:ext cx="3931920" cy="310896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l"/>
            <a:r>
              <a:rPr sz="1200">
                <a:solidFill>
                  <a:srgbClr val="112344"/>
                </a:solidFill>
                <a:latin typeface="Courier New"/>
              </a:rPr>
              <a:t>SELECT</a:t>
            </a:r>
          </a:p>
          <a:p>
            <a:pPr algn="l"/>
            <a:r>
              <a:rPr sz="1200">
                <a:solidFill>
                  <a:srgbClr val="112344"/>
                </a:solidFill>
                <a:latin typeface="Courier New"/>
              </a:rPr>
              <a:t>  DATE_BIN(INTERVAL '1 minute',</a:t>
            </a:r>
          </a:p>
          <a:p>
            <a:pPr algn="l"/>
            <a:r>
              <a:rPr sz="1200">
                <a:solidFill>
                  <a:srgbClr val="112344"/>
                </a:solidFill>
                <a:latin typeface="Courier New"/>
              </a:rPr>
              <a:t>           time) AS minute,</a:t>
            </a:r>
          </a:p>
          <a:p>
            <a:pPr algn="l"/>
            <a:r>
              <a:rPr sz="1200">
                <a:solidFill>
                  <a:srgbClr val="112344"/>
                </a:solidFill>
                <a:latin typeface="Courier New"/>
              </a:rPr>
              <a:t>  room,</a:t>
            </a:r>
          </a:p>
          <a:p>
            <a:pPr algn="l"/>
            <a:r>
              <a:rPr sz="1200">
                <a:solidFill>
                  <a:srgbClr val="112344"/>
                </a:solidFill>
                <a:latin typeface="Courier New"/>
              </a:rPr>
              <a:t>  AVG(temp) AS avg_temp</a:t>
            </a:r>
          </a:p>
          <a:p>
            <a:pPr algn="l"/>
            <a:r>
              <a:rPr sz="1200">
                <a:solidFill>
                  <a:srgbClr val="112344"/>
                </a:solidFill>
                <a:latin typeface="Courier New"/>
              </a:rPr>
              <a:t>FROM home</a:t>
            </a:r>
          </a:p>
          <a:p>
            <a:pPr algn="l"/>
            <a:r>
              <a:rPr sz="1200">
                <a:solidFill>
                  <a:srgbClr val="112344"/>
                </a:solidFill>
                <a:latin typeface="Courier New"/>
              </a:rPr>
              <a:t>GROUP BY minute, room</a:t>
            </a:r>
          </a:p>
          <a:p>
            <a:pPr algn="l"/>
            <a:r>
              <a:rPr sz="1200">
                <a:solidFill>
                  <a:srgbClr val="112344"/>
                </a:solidFill>
                <a:latin typeface="Courier New"/>
              </a:rPr>
              <a:t>ORDER BY minute</a:t>
            </a:r>
          </a:p>
        </p:txBody>
      </p:sp>
      <p:sp>
        <p:nvSpPr>
          <p:cNvPr id="90" name="Slide Number Placeholder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19</a:t>
            </a:fld>
            <a:endParaRPr lang="e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Retention &amp; </a:t>
            </a:r>
            <a:r>
              <a:rPr dirty="0" err="1"/>
              <a:t>Downsampling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z="2000" b="1"/>
              <a:t>Retention period - </a:t>
            </a:r>
            <a:r>
              <a:rPr sz="2000"/>
              <a:t>how long raw data is kept (free plan: 30 days)</a:t>
            </a:r>
          </a:p>
          <a:p>
            <a:r>
              <a:rPr sz="2000"/>
              <a:t>Older data is deleted automatically - no clean-up scripts</a:t>
            </a:r>
          </a:p>
          <a:p>
            <a:r>
              <a:rPr sz="2000" b="1"/>
              <a:t>Downsampling - </a:t>
            </a:r>
            <a:r>
              <a:rPr sz="2000"/>
              <a:t>store hourly or daily averages in a second bucket</a:t>
            </a:r>
          </a:p>
          <a:p>
            <a:r>
              <a:rPr sz="2000"/>
              <a:t>Keep detail for recent days, summaries for years</a:t>
            </a:r>
          </a:p>
          <a:p>
            <a:pPr lvl="1"/>
            <a:r>
              <a:rPr sz="1800"/>
              <a:t>Hot, detailed recent data - cool, summarised history</a:t>
            </a:r>
          </a:p>
        </p:txBody>
      </p:sp>
      <p:sp>
        <p:nvSpPr>
          <p:cNvPr id="90" name="Slide Number Placeholder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20</a:t>
            </a:fld>
            <a:endParaRPr lang="e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Hands-On 1: Store &amp; Query Sensor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sz="2000">
                <a:solidFill>
                  <a:srgbClr val="EA7F26"/>
                </a:solidFill>
              </a:rPr>
              <a:t>InfluxDB Cloud free plan - browser only</a:t>
            </a:r>
          </a:p>
        </p:txBody>
      </p:sp>
      <p:sp>
        <p:nvSpPr>
          <p:cNvPr id="90" name="Slide Number Placeholder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21</a:t>
            </a:fld>
            <a:endParaRPr lang="e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Activity Setup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z="1900" b="1" dirty="0"/>
              <a:t>Sign up: </a:t>
            </a:r>
            <a:r>
              <a:rPr sz="1900" dirty="0"/>
              <a:t>cloud2.influxdata.com - Free Plan, no credit card</a:t>
            </a:r>
          </a:p>
          <a:p>
            <a:r>
              <a:rPr sz="1900" dirty="0"/>
              <a:t>Verify your email, pick AWS (US East or EU Frankfurt), keep the Free Plan</a:t>
            </a:r>
          </a:p>
          <a:p>
            <a:r>
              <a:rPr sz="1900" b="1" dirty="0"/>
              <a:t>Create a bucket: </a:t>
            </a:r>
            <a:r>
              <a:rPr sz="1900" dirty="0"/>
              <a:t>Load Data &gt; Buckets &gt; Create Bucket &gt; name it lab</a:t>
            </a:r>
          </a:p>
          <a:p>
            <a:r>
              <a:rPr sz="1900" b="1" dirty="0"/>
              <a:t>You are the sensor: </a:t>
            </a:r>
            <a:r>
              <a:rPr sz="1900" dirty="0"/>
              <a:t>you will write 5 batches of readings, about 1 minute apart</a:t>
            </a:r>
          </a:p>
          <a:p>
            <a:pPr lvl="1"/>
            <a:r>
              <a:rPr sz="1700" dirty="0"/>
              <a:t>Work in pairs - one types, one checks</a:t>
            </a:r>
          </a:p>
        </p:txBody>
      </p:sp>
      <p:sp>
        <p:nvSpPr>
          <p:cNvPr id="90" name="Slide Number Placeholder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22</a:t>
            </a:fld>
            <a:endParaRPr lang="e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Step 1 - Write Readings (Line Protocol)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z="1600"/>
              <a:t>Load Data &gt; Buckets &gt; lab &gt; Add Data &gt; Line Protocol &gt; Enter Manually</a:t>
            </a:r>
          </a:p>
          <a:p>
            <a:r>
              <a:rPr sz="1600"/>
              <a:t>Paste batch 1, click Write Data. Wait ~1 minute, then batch 2, and so on</a:t>
            </a:r>
          </a:p>
          <a:p>
            <a:pPr lvl="1"/>
            <a:r>
              <a:rPr sz="1400"/>
              <a:t>No timestamps needed - InfluxDB records the arrival 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3977639" cy="27432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l"/>
            <a:r>
              <a:rPr sz="1100" dirty="0">
                <a:solidFill>
                  <a:srgbClr val="595F69"/>
                </a:solidFill>
                <a:latin typeface="Courier New"/>
              </a:rPr>
              <a:t># batch 1</a:t>
            </a:r>
          </a:p>
          <a:p>
            <a:pPr algn="l"/>
            <a:r>
              <a:rPr sz="1100" dirty="0" err="1">
                <a:solidFill>
                  <a:srgbClr val="112344"/>
                </a:solidFill>
                <a:latin typeface="Courier New"/>
              </a:rPr>
              <a:t>home,room</a:t>
            </a:r>
            <a:r>
              <a:rPr sz="1100" dirty="0">
                <a:solidFill>
                  <a:srgbClr val="112344"/>
                </a:solidFill>
                <a:latin typeface="Courier New"/>
              </a:rPr>
              <a:t>=Kitchen temp=22.1,hum=40.2,co=0i</a:t>
            </a:r>
          </a:p>
          <a:p>
            <a:pPr algn="l"/>
            <a:r>
              <a:rPr sz="1100" dirty="0" err="1">
                <a:solidFill>
                  <a:srgbClr val="112344"/>
                </a:solidFill>
                <a:latin typeface="Courier New"/>
              </a:rPr>
              <a:t>home,room</a:t>
            </a:r>
            <a:r>
              <a:rPr sz="1100" dirty="0">
                <a:solidFill>
                  <a:srgbClr val="112344"/>
                </a:solidFill>
                <a:latin typeface="Courier New"/>
              </a:rPr>
              <a:t>=Bedroom temp=21.0,hum=45.0,co=0i</a:t>
            </a:r>
          </a:p>
          <a:p>
            <a:pPr algn="l"/>
            <a:r>
              <a:rPr sz="1100" dirty="0">
                <a:solidFill>
                  <a:srgbClr val="595F69"/>
                </a:solidFill>
                <a:latin typeface="Courier New"/>
              </a:rPr>
              <a:t># batch 2</a:t>
            </a:r>
          </a:p>
          <a:p>
            <a:pPr algn="l"/>
            <a:r>
              <a:rPr sz="1100" dirty="0" err="1">
                <a:solidFill>
                  <a:srgbClr val="112344"/>
                </a:solidFill>
                <a:latin typeface="Courier New"/>
              </a:rPr>
              <a:t>home,room</a:t>
            </a:r>
            <a:r>
              <a:rPr sz="1100" dirty="0">
                <a:solidFill>
                  <a:srgbClr val="112344"/>
                </a:solidFill>
                <a:latin typeface="Courier New"/>
              </a:rPr>
              <a:t>=Kitchen temp=22.4,hum=40.5,co=0i</a:t>
            </a:r>
          </a:p>
          <a:p>
            <a:pPr algn="l"/>
            <a:r>
              <a:rPr sz="1100" dirty="0" err="1">
                <a:solidFill>
                  <a:srgbClr val="112344"/>
                </a:solidFill>
                <a:latin typeface="Courier New"/>
              </a:rPr>
              <a:t>home,room</a:t>
            </a:r>
            <a:r>
              <a:rPr sz="1100" dirty="0">
                <a:solidFill>
                  <a:srgbClr val="112344"/>
                </a:solidFill>
                <a:latin typeface="Courier New"/>
              </a:rPr>
              <a:t>=Bedroom temp=21.1,hum=45.2,co=0i</a:t>
            </a:r>
          </a:p>
          <a:p>
            <a:pPr algn="l"/>
            <a:r>
              <a:rPr sz="1100" dirty="0">
                <a:solidFill>
                  <a:srgbClr val="595F69"/>
                </a:solidFill>
                <a:latin typeface="Courier New"/>
              </a:rPr>
              <a:t># batch 3 - someone starts cooking</a:t>
            </a:r>
          </a:p>
          <a:p>
            <a:pPr algn="l"/>
            <a:r>
              <a:rPr sz="1100" dirty="0" err="1">
                <a:solidFill>
                  <a:srgbClr val="112344"/>
                </a:solidFill>
                <a:latin typeface="Courier New"/>
              </a:rPr>
              <a:t>home,room</a:t>
            </a:r>
            <a:r>
              <a:rPr sz="1100" dirty="0">
                <a:solidFill>
                  <a:srgbClr val="112344"/>
                </a:solidFill>
                <a:latin typeface="Courier New"/>
              </a:rPr>
              <a:t>=Kitchen temp=23.8,hum=41.0,co=2i</a:t>
            </a:r>
          </a:p>
          <a:p>
            <a:pPr algn="l"/>
            <a:r>
              <a:rPr sz="1100" dirty="0" err="1">
                <a:solidFill>
                  <a:srgbClr val="112344"/>
                </a:solidFill>
                <a:latin typeface="Courier New"/>
              </a:rPr>
              <a:t>home,room</a:t>
            </a:r>
            <a:r>
              <a:rPr sz="1100" dirty="0">
                <a:solidFill>
                  <a:srgbClr val="112344"/>
                </a:solidFill>
                <a:latin typeface="Courier New"/>
              </a:rPr>
              <a:t>=Bedroom temp=21.1,hum=45.1,co=0i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828800"/>
            <a:ext cx="3977639" cy="27432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l"/>
            <a:r>
              <a:rPr sz="1100" dirty="0">
                <a:solidFill>
                  <a:srgbClr val="595F69"/>
                </a:solidFill>
                <a:latin typeface="Courier New"/>
              </a:rPr>
              <a:t># batch 4</a:t>
            </a:r>
          </a:p>
          <a:p>
            <a:pPr algn="l"/>
            <a:r>
              <a:rPr sz="1100" dirty="0" err="1">
                <a:solidFill>
                  <a:srgbClr val="112344"/>
                </a:solidFill>
                <a:latin typeface="Courier New"/>
              </a:rPr>
              <a:t>home,room</a:t>
            </a:r>
            <a:r>
              <a:rPr sz="1100" dirty="0">
                <a:solidFill>
                  <a:srgbClr val="112344"/>
                </a:solidFill>
                <a:latin typeface="Courier New"/>
              </a:rPr>
              <a:t>=Kitchen temp=26.5,hum=42.3,co=9i</a:t>
            </a:r>
          </a:p>
          <a:p>
            <a:pPr algn="l"/>
            <a:r>
              <a:rPr sz="1100" dirty="0" err="1">
                <a:solidFill>
                  <a:srgbClr val="112344"/>
                </a:solidFill>
                <a:latin typeface="Courier New"/>
              </a:rPr>
              <a:t>home,room</a:t>
            </a:r>
            <a:r>
              <a:rPr sz="1100" dirty="0">
                <a:solidFill>
                  <a:srgbClr val="112344"/>
                </a:solidFill>
                <a:latin typeface="Courier New"/>
              </a:rPr>
              <a:t>=Bedroom temp=21.2,hum=45.3,co=0i</a:t>
            </a:r>
          </a:p>
          <a:p>
            <a:pPr algn="l"/>
            <a:r>
              <a:rPr sz="1100" dirty="0">
                <a:solidFill>
                  <a:srgbClr val="595F69"/>
                </a:solidFill>
                <a:latin typeface="Courier New"/>
              </a:rPr>
              <a:t># batch 5 - window opened</a:t>
            </a:r>
          </a:p>
          <a:p>
            <a:pPr algn="l"/>
            <a:r>
              <a:rPr sz="1100" dirty="0" err="1">
                <a:solidFill>
                  <a:srgbClr val="112344"/>
                </a:solidFill>
                <a:latin typeface="Courier New"/>
              </a:rPr>
              <a:t>home,room</a:t>
            </a:r>
            <a:r>
              <a:rPr sz="1100" dirty="0">
                <a:solidFill>
                  <a:srgbClr val="112344"/>
                </a:solidFill>
                <a:latin typeface="Courier New"/>
              </a:rPr>
              <a:t>=Kitchen temp=24.0,hum=41.1,co=3i</a:t>
            </a:r>
          </a:p>
          <a:p>
            <a:pPr algn="l"/>
            <a:r>
              <a:rPr sz="1100" dirty="0" err="1">
                <a:solidFill>
                  <a:srgbClr val="112344"/>
                </a:solidFill>
                <a:latin typeface="Courier New"/>
              </a:rPr>
              <a:t>home,room</a:t>
            </a:r>
            <a:r>
              <a:rPr sz="1100" dirty="0">
                <a:solidFill>
                  <a:srgbClr val="112344"/>
                </a:solidFill>
                <a:latin typeface="Courier New"/>
              </a:rPr>
              <a:t>=Bedroom temp=21.2,hum=45.0,co=0i</a:t>
            </a:r>
          </a:p>
        </p:txBody>
      </p:sp>
      <p:sp>
        <p:nvSpPr>
          <p:cNvPr id="90" name="Slide Number Placeholder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23</a:t>
            </a:fld>
            <a:endParaRPr lang="e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Step 2 - Query Your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z="1600"/>
              <a:t>Open Data Explorer, choose bucket lab</a:t>
            </a:r>
          </a:p>
          <a:p>
            <a:r>
              <a:rPr sz="1600"/>
              <a:t>Run each query, one at a time</a:t>
            </a:r>
          </a:p>
          <a:p>
            <a:r>
              <a:rPr sz="1600"/>
              <a:t>Q1: see every reading</a:t>
            </a:r>
          </a:p>
          <a:p>
            <a:r>
              <a:rPr sz="1600"/>
              <a:t>Q2: Kitchen only</a:t>
            </a:r>
          </a:p>
          <a:p>
            <a:r>
              <a:rPr sz="1600"/>
              <a:t>Q3: average temp and peak CO per room</a:t>
            </a:r>
          </a:p>
          <a:p>
            <a:r>
              <a:rPr sz="1600" b="1"/>
              <a:t>Note: </a:t>
            </a:r>
            <a:r>
              <a:rPr sz="1600"/>
              <a:t>which room got warmer? What was the peak CO?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92040" y="777240"/>
            <a:ext cx="3931920" cy="384048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l"/>
            <a:r>
              <a:rPr sz="1100" dirty="0">
                <a:solidFill>
                  <a:srgbClr val="595F69"/>
                </a:solidFill>
                <a:latin typeface="Courier New"/>
              </a:rPr>
              <a:t>-- Q1</a:t>
            </a:r>
          </a:p>
          <a:p>
            <a:pPr algn="l"/>
            <a:r>
              <a:rPr sz="1100" dirty="0">
                <a:solidFill>
                  <a:srgbClr val="112344"/>
                </a:solidFill>
                <a:latin typeface="Courier New"/>
              </a:rPr>
              <a:t>SELECT * FROM home</a:t>
            </a:r>
          </a:p>
          <a:p>
            <a:pPr algn="l"/>
            <a:r>
              <a:rPr sz="1100" dirty="0">
                <a:solidFill>
                  <a:srgbClr val="112344"/>
                </a:solidFill>
                <a:latin typeface="Courier New"/>
              </a:rPr>
              <a:t>ORDER BY time</a:t>
            </a:r>
          </a:p>
          <a:p>
            <a:pPr algn="l"/>
            <a:r>
              <a:rPr sz="1100" dirty="0">
                <a:solidFill>
                  <a:srgbClr val="112344"/>
                </a:solidFill>
                <a:latin typeface="Courier New"/>
              </a:rPr>
              <a:t> </a:t>
            </a:r>
          </a:p>
          <a:p>
            <a:pPr algn="l"/>
            <a:r>
              <a:rPr sz="1100" dirty="0">
                <a:solidFill>
                  <a:srgbClr val="595F69"/>
                </a:solidFill>
                <a:latin typeface="Courier New"/>
              </a:rPr>
              <a:t>-- Q2</a:t>
            </a:r>
          </a:p>
          <a:p>
            <a:pPr algn="l"/>
            <a:r>
              <a:rPr sz="1100" dirty="0">
                <a:solidFill>
                  <a:srgbClr val="112344"/>
                </a:solidFill>
                <a:latin typeface="Courier New"/>
              </a:rPr>
              <a:t>SELECT time, temp, co</a:t>
            </a:r>
          </a:p>
          <a:p>
            <a:pPr algn="l"/>
            <a:r>
              <a:rPr sz="1100" dirty="0">
                <a:solidFill>
                  <a:srgbClr val="112344"/>
                </a:solidFill>
                <a:latin typeface="Courier New"/>
              </a:rPr>
              <a:t>FROM home</a:t>
            </a:r>
          </a:p>
          <a:p>
            <a:pPr algn="l"/>
            <a:r>
              <a:rPr sz="1100" dirty="0">
                <a:solidFill>
                  <a:srgbClr val="112344"/>
                </a:solidFill>
                <a:latin typeface="Courier New"/>
              </a:rPr>
              <a:t>WHERE room = 'Kitchen'</a:t>
            </a:r>
          </a:p>
          <a:p>
            <a:pPr algn="l"/>
            <a:r>
              <a:rPr sz="1100" dirty="0">
                <a:solidFill>
                  <a:srgbClr val="112344"/>
                </a:solidFill>
                <a:latin typeface="Courier New"/>
              </a:rPr>
              <a:t> </a:t>
            </a:r>
          </a:p>
          <a:p>
            <a:pPr algn="l"/>
            <a:r>
              <a:rPr sz="1100" dirty="0">
                <a:solidFill>
                  <a:srgbClr val="595F69"/>
                </a:solidFill>
                <a:latin typeface="Courier New"/>
              </a:rPr>
              <a:t>-- Q3</a:t>
            </a:r>
          </a:p>
          <a:p>
            <a:pPr algn="l"/>
            <a:r>
              <a:rPr sz="1100" dirty="0">
                <a:solidFill>
                  <a:srgbClr val="112344"/>
                </a:solidFill>
                <a:latin typeface="Courier New"/>
              </a:rPr>
              <a:t>SELECT room, AVG(temp) AS </a:t>
            </a:r>
            <a:r>
              <a:rPr sz="1100" dirty="0" err="1">
                <a:solidFill>
                  <a:srgbClr val="112344"/>
                </a:solidFill>
                <a:latin typeface="Courier New"/>
              </a:rPr>
              <a:t>avg_temp</a:t>
            </a:r>
            <a:r>
              <a:rPr sz="1100" dirty="0">
                <a:solidFill>
                  <a:srgbClr val="112344"/>
                </a:solidFill>
                <a:latin typeface="Courier New"/>
              </a:rPr>
              <a:t>,</a:t>
            </a:r>
          </a:p>
          <a:p>
            <a:pPr algn="l"/>
            <a:r>
              <a:rPr sz="1100" dirty="0">
                <a:solidFill>
                  <a:srgbClr val="112344"/>
                </a:solidFill>
                <a:latin typeface="Courier New"/>
              </a:rPr>
              <a:t>       MAX(co) AS </a:t>
            </a:r>
            <a:r>
              <a:rPr sz="1100" dirty="0" err="1">
                <a:solidFill>
                  <a:srgbClr val="112344"/>
                </a:solidFill>
                <a:latin typeface="Courier New"/>
              </a:rPr>
              <a:t>max_co</a:t>
            </a:r>
            <a:endParaRPr sz="1100" dirty="0">
              <a:solidFill>
                <a:srgbClr val="112344"/>
              </a:solidFill>
              <a:latin typeface="Courier New"/>
            </a:endParaRPr>
          </a:p>
          <a:p>
            <a:pPr algn="l"/>
            <a:r>
              <a:rPr sz="1100" dirty="0">
                <a:solidFill>
                  <a:srgbClr val="112344"/>
                </a:solidFill>
                <a:latin typeface="Courier New"/>
              </a:rPr>
              <a:t>FROM home GROUP BY room</a:t>
            </a:r>
          </a:p>
        </p:txBody>
      </p:sp>
      <p:sp>
        <p:nvSpPr>
          <p:cNvPr id="90" name="Slide Number Placeholder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24</a:t>
            </a:fld>
            <a:endParaRPr lang="e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237285-E7EB-A86F-9F49-1F5BB0700968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25</a:t>
            </a:fld>
            <a:endParaRPr lang="e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E77E4D9-95D6-B9A8-DC0C-5B32E7572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2 - Check Your Results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B4B178-9CEE-AD4C-9213-4BA498EE23A7}"/>
              </a:ext>
            </a:extLst>
          </p:cNvPr>
          <p:cNvSpPr txBox="1"/>
          <p:nvPr/>
        </p:nvSpPr>
        <p:spPr>
          <a:xfrm>
            <a:off x="254000" y="711200"/>
            <a:ext cx="419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12344"/>
                </a:solidFill>
              </a:rPr>
              <a:t>Q1: every reading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4241C5-691F-BB4B-A953-A5EAA52A3184}"/>
              </a:ext>
            </a:extLst>
          </p:cNvPr>
          <p:cNvSpPr txBox="1"/>
          <p:nvPr/>
        </p:nvSpPr>
        <p:spPr>
          <a:xfrm>
            <a:off x="254000" y="1016000"/>
            <a:ext cx="4191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12344"/>
                </a:solidFill>
              </a:rPr>
              <a:t>You should see 10 rows: 5 for Kitchen and 5 for Bedroom.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888244-B5BD-B34C-81C7-AA0405CF6618}"/>
              </a:ext>
            </a:extLst>
          </p:cNvPr>
          <p:cNvSpPr txBox="1"/>
          <p:nvPr/>
        </p:nvSpPr>
        <p:spPr>
          <a:xfrm>
            <a:off x="254000" y="1625600"/>
            <a:ext cx="419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12344"/>
                </a:solidFill>
              </a:rPr>
              <a:t>Q2: Kitchen only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98457FE-0DA2-8949-87E3-370546395B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7391201"/>
              </p:ext>
            </p:extLst>
          </p:nvPr>
        </p:nvGraphicFramePr>
        <p:xfrm>
          <a:off x="355600" y="1955800"/>
          <a:ext cx="3810000" cy="1828800"/>
        </p:xfrm>
        <a:graphic>
          <a:graphicData uri="http://schemas.openxmlformats.org/drawingml/2006/table">
            <a:tbl>
              <a:tblPr/>
              <a:tblGrid>
                <a:gridCol w="1270000">
                  <a:extLst>
                    <a:ext uri="{9D8B030D-6E8A-4147-A177-3AD203B41FA5}">
                      <a16:colId xmlns:a16="http://schemas.microsoft.com/office/drawing/2014/main" val="3867714906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97798534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371863416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12344"/>
                          </a:solidFill>
                        </a:rPr>
                        <a:t>Batch</a:t>
                      </a:r>
                    </a:p>
                  </a:txBody>
                  <a:tcPr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12700">
                      <a:solidFill>
                        <a:srgbClr val="595F6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>
                          <a:solidFill>
                            <a:srgbClr val="112344"/>
                          </a:solidFill>
                        </a:rPr>
                        <a:t>temp</a:t>
                      </a:r>
                    </a:p>
                  </a:txBody>
                  <a:tcPr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12700">
                      <a:solidFill>
                        <a:srgbClr val="595F6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>
                          <a:solidFill>
                            <a:srgbClr val="112344"/>
                          </a:solidFill>
                        </a:rPr>
                        <a:t>co</a:t>
                      </a:r>
                    </a:p>
                  </a:txBody>
                  <a:tcPr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12700">
                      <a:solidFill>
                        <a:srgbClr val="595F6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774971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12344"/>
                          </a:solidFill>
                        </a:rPr>
                        <a:t>1</a:t>
                      </a:r>
                    </a:p>
                  </a:txBody>
                  <a:tcPr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595F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>
                          <a:solidFill>
                            <a:srgbClr val="112344"/>
                          </a:solidFill>
                        </a:rPr>
                        <a:t>22.1</a:t>
                      </a:r>
                    </a:p>
                  </a:txBody>
                  <a:tcPr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595F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>
                          <a:solidFill>
                            <a:srgbClr val="112344"/>
                          </a:solidFill>
                        </a:rPr>
                        <a:t>0</a:t>
                      </a:r>
                    </a:p>
                  </a:txBody>
                  <a:tcPr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595F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23372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12344"/>
                          </a:solidFill>
                        </a:rPr>
                        <a:t>2</a:t>
                      </a:r>
                    </a:p>
                  </a:txBody>
                  <a:tcPr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>
                          <a:solidFill>
                            <a:srgbClr val="112344"/>
                          </a:solidFill>
                        </a:rPr>
                        <a:t>22.4</a:t>
                      </a:r>
                    </a:p>
                  </a:txBody>
                  <a:tcPr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>
                          <a:solidFill>
                            <a:srgbClr val="112344"/>
                          </a:solidFill>
                        </a:rPr>
                        <a:t>0</a:t>
                      </a:r>
                    </a:p>
                  </a:txBody>
                  <a:tcPr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019363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12344"/>
                          </a:solidFill>
                        </a:rPr>
                        <a:t>3</a:t>
                      </a:r>
                    </a:p>
                  </a:txBody>
                  <a:tcPr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>
                          <a:solidFill>
                            <a:srgbClr val="112344"/>
                          </a:solidFill>
                        </a:rPr>
                        <a:t>23.8</a:t>
                      </a:r>
                    </a:p>
                  </a:txBody>
                  <a:tcPr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>
                          <a:solidFill>
                            <a:srgbClr val="112344"/>
                          </a:solidFill>
                        </a:rPr>
                        <a:t>2</a:t>
                      </a:r>
                    </a:p>
                  </a:txBody>
                  <a:tcPr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2096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12344"/>
                          </a:solidFill>
                        </a:rPr>
                        <a:t>4</a:t>
                      </a:r>
                    </a:p>
                  </a:txBody>
                  <a:tcPr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>
                          <a:solidFill>
                            <a:srgbClr val="112344"/>
                          </a:solidFill>
                        </a:rPr>
                        <a:t>26.5</a:t>
                      </a:r>
                    </a:p>
                  </a:txBody>
                  <a:tcPr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>
                          <a:solidFill>
                            <a:srgbClr val="112344"/>
                          </a:solidFill>
                        </a:rPr>
                        <a:t>9</a:t>
                      </a:r>
                    </a:p>
                  </a:txBody>
                  <a:tcPr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C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94619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12344"/>
                          </a:solidFill>
                        </a:rPr>
                        <a:t>5</a:t>
                      </a:r>
                    </a:p>
                  </a:txBody>
                  <a:tcPr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>
                          <a:solidFill>
                            <a:srgbClr val="112344"/>
                          </a:solidFill>
                        </a:rPr>
                        <a:t>24.0</a:t>
                      </a:r>
                    </a:p>
                  </a:txBody>
                  <a:tcPr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>
                          <a:solidFill>
                            <a:srgbClr val="112344"/>
                          </a:solidFill>
                        </a:rPr>
                        <a:t>3</a:t>
                      </a:r>
                    </a:p>
                  </a:txBody>
                  <a:tcPr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03347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09CA50B-5AE1-CB47-B896-4B07D6CA8592}"/>
              </a:ext>
            </a:extLst>
          </p:cNvPr>
          <p:cNvSpPr txBox="1"/>
          <p:nvPr/>
        </p:nvSpPr>
        <p:spPr>
          <a:xfrm>
            <a:off x="254000" y="4013200"/>
            <a:ext cx="4191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595F69"/>
                </a:solidFill>
              </a:rPr>
              <a:t>Your time column shows when each batch arrived, so it will differ from other pairs.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D64177-A8A0-9A4A-BA20-11F72562CB70}"/>
              </a:ext>
            </a:extLst>
          </p:cNvPr>
          <p:cNvSpPr txBox="1"/>
          <p:nvPr/>
        </p:nvSpPr>
        <p:spPr>
          <a:xfrm>
            <a:off x="4711700" y="711200"/>
            <a:ext cx="419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12344"/>
                </a:solidFill>
              </a:rPr>
              <a:t>Q3: average and peak per room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1582A4E-FA61-524A-9468-1B554E090A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216007"/>
              </p:ext>
            </p:extLst>
          </p:nvPr>
        </p:nvGraphicFramePr>
        <p:xfrm>
          <a:off x="4813300" y="1041400"/>
          <a:ext cx="3936999" cy="914400"/>
        </p:xfrm>
        <a:graphic>
          <a:graphicData uri="http://schemas.openxmlformats.org/drawingml/2006/table">
            <a:tbl>
              <a:tblPr/>
              <a:tblGrid>
                <a:gridCol w="1312333">
                  <a:extLst>
                    <a:ext uri="{9D8B030D-6E8A-4147-A177-3AD203B41FA5}">
                      <a16:colId xmlns:a16="http://schemas.microsoft.com/office/drawing/2014/main" val="774262835"/>
                    </a:ext>
                  </a:extLst>
                </a:gridCol>
                <a:gridCol w="1312333">
                  <a:extLst>
                    <a:ext uri="{9D8B030D-6E8A-4147-A177-3AD203B41FA5}">
                      <a16:colId xmlns:a16="http://schemas.microsoft.com/office/drawing/2014/main" val="3663454802"/>
                    </a:ext>
                  </a:extLst>
                </a:gridCol>
                <a:gridCol w="1312333">
                  <a:extLst>
                    <a:ext uri="{9D8B030D-6E8A-4147-A177-3AD203B41FA5}">
                      <a16:colId xmlns:a16="http://schemas.microsoft.com/office/drawing/2014/main" val="152964917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12344"/>
                          </a:solidFill>
                        </a:rPr>
                        <a:t>room</a:t>
                      </a:r>
                    </a:p>
                  </a:txBody>
                  <a:tcPr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12700">
                      <a:solidFill>
                        <a:srgbClr val="595F6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>
                          <a:solidFill>
                            <a:srgbClr val="112344"/>
                          </a:solidFill>
                        </a:rPr>
                        <a:t>avg_temp</a:t>
                      </a:r>
                    </a:p>
                  </a:txBody>
                  <a:tcPr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12700">
                      <a:solidFill>
                        <a:srgbClr val="595F6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>
                          <a:solidFill>
                            <a:srgbClr val="112344"/>
                          </a:solidFill>
                        </a:rPr>
                        <a:t>max_co</a:t>
                      </a:r>
                    </a:p>
                  </a:txBody>
                  <a:tcPr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12700">
                      <a:solidFill>
                        <a:srgbClr val="595F6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341497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12344"/>
                          </a:solidFill>
                        </a:rPr>
                        <a:t>Bedroom</a:t>
                      </a:r>
                    </a:p>
                  </a:txBody>
                  <a:tcPr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595F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>
                          <a:solidFill>
                            <a:srgbClr val="112344"/>
                          </a:solidFill>
                        </a:rPr>
                        <a:t>21.12</a:t>
                      </a:r>
                    </a:p>
                  </a:txBody>
                  <a:tcPr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595F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>
                          <a:solidFill>
                            <a:srgbClr val="112344"/>
                          </a:solidFill>
                        </a:rPr>
                        <a:t>0</a:t>
                      </a:r>
                    </a:p>
                  </a:txBody>
                  <a:tcPr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595F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878001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12344"/>
                          </a:solidFill>
                        </a:rPr>
                        <a:t>Kitchen</a:t>
                      </a:r>
                    </a:p>
                  </a:txBody>
                  <a:tcPr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>
                          <a:solidFill>
                            <a:srgbClr val="112344"/>
                          </a:solidFill>
                        </a:rPr>
                        <a:t>23.76</a:t>
                      </a:r>
                    </a:p>
                  </a:txBody>
                  <a:tcPr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>
                          <a:solidFill>
                            <a:srgbClr val="112344"/>
                          </a:solidFill>
                        </a:rPr>
                        <a:t>9</a:t>
                      </a:r>
                    </a:p>
                  </a:txBody>
                  <a:tcPr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C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960998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BACABBC-AA34-7E4D-8881-7D3103BFB76E}"/>
              </a:ext>
            </a:extLst>
          </p:cNvPr>
          <p:cNvSpPr txBox="1"/>
          <p:nvPr/>
        </p:nvSpPr>
        <p:spPr>
          <a:xfrm>
            <a:off x="4711700" y="2108200"/>
            <a:ext cx="419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595F69"/>
                </a:solidFill>
              </a:rPr>
              <a:t>The two rows may appear in either order.</a:t>
            </a:r>
          </a:p>
        </p:txBody>
      </p:sp>
      <p:sp>
        <p:nvSpPr>
          <p:cNvPr id="16" name="Answer card">
            <a:extLst>
              <a:ext uri="{FF2B5EF4-FFF2-40B4-BE49-F238E27FC236}">
                <a16:creationId xmlns:a16="http://schemas.microsoft.com/office/drawing/2014/main" id="{3FF61C47-A9A6-3E4F-8433-5475491FAD49}"/>
              </a:ext>
            </a:extLst>
          </p:cNvPr>
          <p:cNvSpPr/>
          <p:nvPr/>
        </p:nvSpPr>
        <p:spPr>
          <a:xfrm>
            <a:off x="4813300" y="2590800"/>
            <a:ext cx="3937000" cy="2032000"/>
          </a:xfrm>
          <a:prstGeom prst="roundRect">
            <a:avLst/>
          </a:prstGeom>
          <a:solidFill>
            <a:srgbClr val="F2F3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114300" rIns="137160" bIns="11430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sz="1400" b="1" dirty="0">
                <a:solidFill>
                  <a:srgbClr val="112344"/>
                </a:solidFill>
              </a:rPr>
              <a:t>Answers to the note</a:t>
            </a:r>
          </a:p>
          <a:p>
            <a:pPr algn="l">
              <a:spcAft>
                <a:spcPts val="600"/>
              </a:spcAft>
            </a:pPr>
            <a:r>
              <a:rPr lang="en-US" sz="1400" dirty="0">
                <a:solidFill>
                  <a:srgbClr val="112344"/>
                </a:solidFill>
              </a:rPr>
              <a:t>The </a:t>
            </a:r>
            <a:r>
              <a:rPr lang="en-US" sz="1400" b="1" dirty="0">
                <a:solidFill>
                  <a:srgbClr val="112344"/>
                </a:solidFill>
              </a:rPr>
              <a:t>Kitchen</a:t>
            </a:r>
            <a:r>
              <a:rPr lang="en-US" sz="1400" dirty="0">
                <a:solidFill>
                  <a:srgbClr val="112344"/>
                </a:solidFill>
              </a:rPr>
              <a:t> got warmer: it rose from 22.1 °C to 26.5 °C by batch 4, while the Bedroom stayed near 21 °C.</a:t>
            </a:r>
          </a:p>
          <a:p>
            <a:pPr algn="l"/>
            <a:r>
              <a:rPr lang="en-US" sz="1400" dirty="0">
                <a:solidFill>
                  <a:srgbClr val="112344"/>
                </a:solidFill>
              </a:rPr>
              <a:t>The </a:t>
            </a:r>
            <a:r>
              <a:rPr lang="en-US" sz="1400" b="1" dirty="0">
                <a:solidFill>
                  <a:srgbClr val="112344"/>
                </a:solidFill>
              </a:rPr>
              <a:t>peak CO was 9</a:t>
            </a:r>
            <a:r>
              <a:rPr lang="en-US" sz="1400" dirty="0">
                <a:solidFill>
                  <a:srgbClr val="112344"/>
                </a:solidFill>
              </a:rPr>
              <a:t>, in the Kitchen at batch 4, when someone was cooking.</a:t>
            </a:r>
          </a:p>
        </p:txBody>
      </p:sp>
    </p:spTree>
    <p:extLst>
      <p:ext uri="{BB962C8B-B14F-4D97-AF65-F5344CB8AC3E}">
        <p14:creationId xmlns:p14="http://schemas.microsoft.com/office/powerpoint/2010/main" val="21809418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Step 3 - Bucket by Time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z="1600"/>
              <a:t>Group your readings into 2-minute slots</a:t>
            </a:r>
          </a:p>
          <a:p>
            <a:r>
              <a:rPr sz="1600"/>
              <a:t>Compare Kitchen vs Bedroom slot by slot</a:t>
            </a:r>
          </a:p>
          <a:p>
            <a:r>
              <a:rPr sz="1600"/>
              <a:t>Try changing 2 minutes to 1 minute</a:t>
            </a:r>
          </a:p>
          <a:p>
            <a:r>
              <a:rPr sz="1600" b="1"/>
              <a:t>Expect: </a:t>
            </a:r>
            <a:r>
              <a:rPr sz="1600"/>
              <a:t>Bedroom stays ~21; Kitchen ~22, then ~25 while cooking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92040" y="914400"/>
            <a:ext cx="3931920" cy="310896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l"/>
            <a:r>
              <a:rPr sz="1200" dirty="0">
                <a:solidFill>
                  <a:srgbClr val="112344"/>
                </a:solidFill>
                <a:latin typeface="Courier New"/>
              </a:rPr>
              <a:t>SELECT</a:t>
            </a:r>
          </a:p>
          <a:p>
            <a:pPr algn="l"/>
            <a:r>
              <a:rPr sz="1200" dirty="0">
                <a:solidFill>
                  <a:srgbClr val="112344"/>
                </a:solidFill>
                <a:latin typeface="Courier New"/>
              </a:rPr>
              <a:t>  DATE_BIN(INTERVAL '2 minutes',</a:t>
            </a:r>
          </a:p>
          <a:p>
            <a:pPr algn="l"/>
            <a:r>
              <a:rPr sz="1200" dirty="0">
                <a:solidFill>
                  <a:srgbClr val="112344"/>
                </a:solidFill>
                <a:latin typeface="Courier New"/>
              </a:rPr>
              <a:t>           time) AS slot,</a:t>
            </a:r>
          </a:p>
          <a:p>
            <a:pPr algn="l"/>
            <a:r>
              <a:rPr sz="1200" dirty="0">
                <a:solidFill>
                  <a:srgbClr val="112344"/>
                </a:solidFill>
                <a:latin typeface="Courier New"/>
              </a:rPr>
              <a:t>  room,</a:t>
            </a:r>
          </a:p>
          <a:p>
            <a:pPr algn="l"/>
            <a:r>
              <a:rPr sz="1200" dirty="0">
                <a:solidFill>
                  <a:srgbClr val="112344"/>
                </a:solidFill>
                <a:latin typeface="Courier New"/>
              </a:rPr>
              <a:t>  AVG(temp) AS </a:t>
            </a:r>
            <a:r>
              <a:rPr sz="1200" dirty="0" err="1">
                <a:solidFill>
                  <a:srgbClr val="112344"/>
                </a:solidFill>
                <a:latin typeface="Courier New"/>
              </a:rPr>
              <a:t>avg_temp</a:t>
            </a:r>
            <a:endParaRPr sz="1200" dirty="0">
              <a:solidFill>
                <a:srgbClr val="112344"/>
              </a:solidFill>
              <a:latin typeface="Courier New"/>
            </a:endParaRPr>
          </a:p>
          <a:p>
            <a:pPr algn="l"/>
            <a:r>
              <a:rPr sz="1200" dirty="0">
                <a:solidFill>
                  <a:srgbClr val="112344"/>
                </a:solidFill>
                <a:latin typeface="Courier New"/>
              </a:rPr>
              <a:t>FROM home</a:t>
            </a:r>
          </a:p>
          <a:p>
            <a:pPr algn="l"/>
            <a:r>
              <a:rPr sz="1200" dirty="0">
                <a:solidFill>
                  <a:srgbClr val="112344"/>
                </a:solidFill>
                <a:latin typeface="Courier New"/>
              </a:rPr>
              <a:t>GROUP BY slot, room</a:t>
            </a:r>
          </a:p>
          <a:p>
            <a:pPr algn="l"/>
            <a:r>
              <a:rPr sz="1200" dirty="0">
                <a:solidFill>
                  <a:srgbClr val="112344"/>
                </a:solidFill>
                <a:latin typeface="Courier New"/>
              </a:rPr>
              <a:t>ORDER BY slot, room</a:t>
            </a:r>
          </a:p>
        </p:txBody>
      </p:sp>
      <p:sp>
        <p:nvSpPr>
          <p:cNvPr id="90" name="Slide Number Placeholder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26</a:t>
            </a:fld>
            <a:endParaRPr lang="e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6EE818-5DC9-DBBA-FC3E-C086F08B0A90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27</a:t>
            </a:fld>
            <a:endParaRPr lang="e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D7C4E2-1613-544B-23A2-2B62A95F3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3 - Check Your Results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FB90A9-9AC8-D048-8C32-F3E32D11B9F3}"/>
              </a:ext>
            </a:extLst>
          </p:cNvPr>
          <p:cNvSpPr txBox="1"/>
          <p:nvPr/>
        </p:nvSpPr>
        <p:spPr>
          <a:xfrm>
            <a:off x="254000" y="711200"/>
            <a:ext cx="419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12344"/>
                </a:solidFill>
              </a:rPr>
              <a:t>2-minute slots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1B0A8E-B749-754A-8DF7-B47372261773}"/>
              </a:ext>
            </a:extLst>
          </p:cNvPr>
          <p:cNvSpPr txBox="1"/>
          <p:nvPr/>
        </p:nvSpPr>
        <p:spPr>
          <a:xfrm>
            <a:off x="254000" y="1016000"/>
            <a:ext cx="419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12344"/>
                </a:solidFill>
              </a:rPr>
              <a:t>You should see 6 rows: 3 slots × 2 rooms.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2AD9685-AEBB-6E40-BB40-28CA00232256}"/>
              </a:ext>
            </a:extLst>
          </p:cNvPr>
          <p:cNvGraphicFramePr>
            <a:graphicFrameLocks noGrp="1"/>
          </p:cNvGraphicFramePr>
          <p:nvPr/>
        </p:nvGraphicFramePr>
        <p:xfrm>
          <a:off x="355600" y="1371600"/>
          <a:ext cx="3937000" cy="2133600"/>
        </p:xfrm>
        <a:graphic>
          <a:graphicData uri="http://schemas.openxmlformats.org/drawingml/2006/table">
            <a:tbl>
              <a:tblPr/>
              <a:tblGrid>
                <a:gridCol w="1778000">
                  <a:extLst>
                    <a:ext uri="{9D8B030D-6E8A-4147-A177-3AD203B41FA5}">
                      <a16:colId xmlns:a16="http://schemas.microsoft.com/office/drawing/2014/main" val="63949507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4644845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853758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12344"/>
                          </a:solidFill>
                        </a:rPr>
                        <a:t>slot</a:t>
                      </a:r>
                    </a:p>
                  </a:txBody>
                  <a:tcPr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12700">
                      <a:solidFill>
                        <a:srgbClr val="595F6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12344"/>
                          </a:solidFill>
                        </a:rPr>
                        <a:t>room</a:t>
                      </a:r>
                    </a:p>
                  </a:txBody>
                  <a:tcPr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12700">
                      <a:solidFill>
                        <a:srgbClr val="595F6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>
                          <a:solidFill>
                            <a:srgbClr val="112344"/>
                          </a:solidFill>
                        </a:rPr>
                        <a:t>avg_temp</a:t>
                      </a:r>
                    </a:p>
                  </a:txBody>
                  <a:tcPr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12700">
                      <a:solidFill>
                        <a:srgbClr val="595F6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797286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12344"/>
                          </a:solidFill>
                        </a:rPr>
                        <a:t>1 (batches 1–2)</a:t>
                      </a:r>
                    </a:p>
                  </a:txBody>
                  <a:tcPr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595F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12344"/>
                          </a:solidFill>
                        </a:rPr>
                        <a:t>Bedroom</a:t>
                      </a:r>
                    </a:p>
                  </a:txBody>
                  <a:tcPr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595F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>
                          <a:solidFill>
                            <a:srgbClr val="112344"/>
                          </a:solidFill>
                        </a:rPr>
                        <a:t>21.05</a:t>
                      </a:r>
                    </a:p>
                  </a:txBody>
                  <a:tcPr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595F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5952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12344"/>
                          </a:solidFill>
                        </a:rPr>
                        <a:t>1 (batches 1–2)</a:t>
                      </a:r>
                    </a:p>
                  </a:txBody>
                  <a:tcPr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12344"/>
                          </a:solidFill>
                        </a:rPr>
                        <a:t>Kitchen</a:t>
                      </a:r>
                    </a:p>
                  </a:txBody>
                  <a:tcPr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>
                          <a:solidFill>
                            <a:srgbClr val="112344"/>
                          </a:solidFill>
                        </a:rPr>
                        <a:t>22.25</a:t>
                      </a:r>
                    </a:p>
                  </a:txBody>
                  <a:tcPr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36003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12344"/>
                          </a:solidFill>
                        </a:rPr>
                        <a:t>2 (batches 3–4)</a:t>
                      </a:r>
                    </a:p>
                  </a:txBody>
                  <a:tcPr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12344"/>
                          </a:solidFill>
                        </a:rPr>
                        <a:t>Bedroom</a:t>
                      </a:r>
                    </a:p>
                  </a:txBody>
                  <a:tcPr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>
                          <a:solidFill>
                            <a:srgbClr val="112344"/>
                          </a:solidFill>
                        </a:rPr>
                        <a:t>21.15</a:t>
                      </a:r>
                    </a:p>
                  </a:txBody>
                  <a:tcPr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078421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12344"/>
                          </a:solidFill>
                        </a:rPr>
                        <a:t>2 (batches 3–4)</a:t>
                      </a:r>
                    </a:p>
                  </a:txBody>
                  <a:tcPr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12344"/>
                          </a:solidFill>
                        </a:rPr>
                        <a:t>Kitchen</a:t>
                      </a:r>
                    </a:p>
                  </a:txBody>
                  <a:tcPr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CEB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>
                          <a:solidFill>
                            <a:srgbClr val="112344"/>
                          </a:solidFill>
                        </a:rPr>
                        <a:t>25.15</a:t>
                      </a:r>
                    </a:p>
                  </a:txBody>
                  <a:tcPr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C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0236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12344"/>
                          </a:solidFill>
                        </a:rPr>
                        <a:t>3 (batch 5)</a:t>
                      </a:r>
                    </a:p>
                  </a:txBody>
                  <a:tcPr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12344"/>
                          </a:solidFill>
                        </a:rPr>
                        <a:t>Bedroom</a:t>
                      </a:r>
                    </a:p>
                  </a:txBody>
                  <a:tcPr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>
                          <a:solidFill>
                            <a:srgbClr val="112344"/>
                          </a:solidFill>
                        </a:rPr>
                        <a:t>21.20</a:t>
                      </a:r>
                    </a:p>
                  </a:txBody>
                  <a:tcPr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86588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12344"/>
                          </a:solidFill>
                        </a:rPr>
                        <a:t>3 (batch 5)</a:t>
                      </a:r>
                    </a:p>
                  </a:txBody>
                  <a:tcPr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112344"/>
                          </a:solidFill>
                        </a:rPr>
                        <a:t>Kitchen</a:t>
                      </a:r>
                    </a:p>
                  </a:txBody>
                  <a:tcPr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>
                          <a:solidFill>
                            <a:srgbClr val="112344"/>
                          </a:solidFill>
                        </a:rPr>
                        <a:t>24.00</a:t>
                      </a:r>
                    </a:p>
                  </a:txBody>
                  <a:tcPr anchor="ctr"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60090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A1B339C-5190-1346-A3C4-80785CF35F09}"/>
              </a:ext>
            </a:extLst>
          </p:cNvPr>
          <p:cNvSpPr txBox="1"/>
          <p:nvPr/>
        </p:nvSpPr>
        <p:spPr>
          <a:xfrm>
            <a:off x="254000" y="3606800"/>
            <a:ext cx="4191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595F69"/>
                </a:solidFill>
              </a:rPr>
              <a:t>Your slot column shows clock times, not 1, 2, 3.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185FF6-0BD5-2145-848C-B26CF8939661}"/>
              </a:ext>
            </a:extLst>
          </p:cNvPr>
          <p:cNvSpPr txBox="1"/>
          <p:nvPr/>
        </p:nvSpPr>
        <p:spPr>
          <a:xfrm>
            <a:off x="4711700" y="711200"/>
            <a:ext cx="419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12344"/>
                </a:solidFill>
              </a:rPr>
              <a:t>If your batches split differently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C002F3-DA50-F14E-A407-9EB25CE068D7}"/>
              </a:ext>
            </a:extLst>
          </p:cNvPr>
          <p:cNvSpPr txBox="1"/>
          <p:nvPr/>
        </p:nvSpPr>
        <p:spPr>
          <a:xfrm>
            <a:off x="4711700" y="1016000"/>
            <a:ext cx="4191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12344"/>
                </a:solidFill>
              </a:rPr>
              <a:t>Slots start on even minutes, so batch 1 may sit alone. Then Kitchen reads 22.10, 23.10, 25.25 and Bedroom 21.00, 21.10, 21.20.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739959-A127-794C-93FE-5AB15C9CC05F}"/>
              </a:ext>
            </a:extLst>
          </p:cNvPr>
          <p:cNvSpPr txBox="1"/>
          <p:nvPr/>
        </p:nvSpPr>
        <p:spPr>
          <a:xfrm>
            <a:off x="4711700" y="1879600"/>
            <a:ext cx="419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12344"/>
                </a:solidFill>
              </a:rPr>
              <a:t>1-minute slots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25CF02-D716-894D-9DD0-2701724E75BA}"/>
              </a:ext>
            </a:extLst>
          </p:cNvPr>
          <p:cNvSpPr txBox="1"/>
          <p:nvPr/>
        </p:nvSpPr>
        <p:spPr>
          <a:xfrm>
            <a:off x="4711700" y="2184400"/>
            <a:ext cx="4191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12344"/>
                </a:solidFill>
              </a:rPr>
              <a:t>About 10 rows, one batch per slot, so avg_temp equals each raw reading.</a:t>
            </a:r>
          </a:p>
        </p:txBody>
      </p:sp>
      <p:sp>
        <p:nvSpPr>
          <p:cNvPr id="15" name="Answer card">
            <a:extLst>
              <a:ext uri="{FF2B5EF4-FFF2-40B4-BE49-F238E27FC236}">
                <a16:creationId xmlns:a16="http://schemas.microsoft.com/office/drawing/2014/main" id="{6DC1708F-0763-164B-A95E-49B6C025D444}"/>
              </a:ext>
            </a:extLst>
          </p:cNvPr>
          <p:cNvSpPr/>
          <p:nvPr/>
        </p:nvSpPr>
        <p:spPr>
          <a:xfrm>
            <a:off x="4813300" y="2870200"/>
            <a:ext cx="3937000" cy="1600200"/>
          </a:xfrm>
          <a:prstGeom prst="roundRect">
            <a:avLst/>
          </a:prstGeom>
          <a:solidFill>
            <a:srgbClr val="F2F3F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37160" tIns="114300" rIns="137160" bIns="11430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sz="1400" b="1" dirty="0">
                <a:solidFill>
                  <a:srgbClr val="112344"/>
                </a:solidFill>
              </a:rPr>
              <a:t>What to notice</a:t>
            </a:r>
          </a:p>
          <a:p>
            <a:pPr algn="l">
              <a:spcAft>
                <a:spcPts val="600"/>
              </a:spcAft>
            </a:pPr>
            <a:r>
              <a:rPr lang="en-US" sz="1400" dirty="0">
                <a:solidFill>
                  <a:srgbClr val="112344"/>
                </a:solidFill>
              </a:rPr>
              <a:t>The </a:t>
            </a:r>
            <a:r>
              <a:rPr lang="en-US" sz="1400" b="1" dirty="0">
                <a:solidFill>
                  <a:srgbClr val="112344"/>
                </a:solidFill>
              </a:rPr>
              <a:t>Kitchen jumps about 3 °C</a:t>
            </a:r>
            <a:r>
              <a:rPr lang="en-US" sz="1400" dirty="0">
                <a:solidFill>
                  <a:srgbClr val="112344"/>
                </a:solidFill>
              </a:rPr>
              <a:t> in the cooking slot.</a:t>
            </a:r>
          </a:p>
          <a:p>
            <a:pPr algn="l"/>
            <a:r>
              <a:rPr lang="en-US" sz="1400" dirty="0">
                <a:solidFill>
                  <a:srgbClr val="112344"/>
                </a:solidFill>
              </a:rPr>
              <a:t>The </a:t>
            </a:r>
            <a:r>
              <a:rPr lang="en-US" sz="1400" b="1" dirty="0">
                <a:solidFill>
                  <a:srgbClr val="112344"/>
                </a:solidFill>
              </a:rPr>
              <a:t>Bedroom moves less than 0.2 °C</a:t>
            </a:r>
            <a:r>
              <a:rPr lang="en-US" sz="1400" dirty="0">
                <a:solidFill>
                  <a:srgbClr val="112344"/>
                </a:solidFill>
              </a:rPr>
              <a:t> across all slots.</a:t>
            </a:r>
          </a:p>
        </p:txBody>
      </p:sp>
    </p:spTree>
    <p:extLst>
      <p:ext uri="{BB962C8B-B14F-4D97-AF65-F5344CB8AC3E}">
        <p14:creationId xmlns:p14="http://schemas.microsoft.com/office/powerpoint/2010/main" val="21767745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Part 3: Real-Time Visualization with Grafana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sz="2000">
                <a:solidFill>
                  <a:srgbClr val="EA7F26"/>
                </a:solidFill>
              </a:rPr>
              <a:t>Turning streams of numbers into dashboards people act on</a:t>
            </a:r>
          </a:p>
        </p:txBody>
      </p:sp>
      <p:sp>
        <p:nvSpPr>
          <p:cNvPr id="90" name="Slide Number Placeholder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28</a:t>
            </a:fld>
            <a:endParaRPr lang="en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Visualize IoT Data?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z="2000" dirty="0"/>
              <a:t>People spot patterns in pictures, not in tables of numbers</a:t>
            </a:r>
          </a:p>
          <a:p>
            <a:r>
              <a:rPr sz="2000" dirty="0"/>
              <a:t>Operators need the current state at a glance</a:t>
            </a:r>
          </a:p>
          <a:p>
            <a:r>
              <a:rPr sz="2000" dirty="0"/>
              <a:t>Trends reveal slow problems: a motor warming week by week</a:t>
            </a:r>
          </a:p>
          <a:p>
            <a:r>
              <a:rPr sz="2000" dirty="0" err="1"/>
              <a:t>Colours</a:t>
            </a:r>
            <a:r>
              <a:rPr sz="2000" dirty="0"/>
              <a:t> and alerts call attention before failure</a:t>
            </a:r>
          </a:p>
          <a:p>
            <a:pPr lvl="1"/>
            <a:r>
              <a:rPr sz="1800" dirty="0"/>
              <a:t>A dashboard is the control room of an IoT system</a:t>
            </a:r>
          </a:p>
        </p:txBody>
      </p:sp>
      <p:sp>
        <p:nvSpPr>
          <p:cNvPr id="90" name="Slide Number Placeholder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29</a:t>
            </a:fld>
            <a:endParaRPr lang="en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Meet Grafana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z="2000"/>
              <a:t>Open-source dashboard and visualization tool from Grafana Labs (since 2014)</a:t>
            </a:r>
          </a:p>
          <a:p>
            <a:r>
              <a:rPr sz="2000" b="1"/>
              <a:t>Stores no data - </a:t>
            </a:r>
            <a:r>
              <a:rPr sz="2000"/>
              <a:t>it queries your databases live</a:t>
            </a:r>
          </a:p>
          <a:p>
            <a:r>
              <a:rPr sz="2000"/>
              <a:t>Connects to InfluxDB, Prometheus, MySQL, PostgreSQL and many more</a:t>
            </a:r>
          </a:p>
          <a:p>
            <a:r>
              <a:rPr sz="2000"/>
              <a:t>Latest major version: Grafana 13 (April 2026)</a:t>
            </a:r>
          </a:p>
          <a:p>
            <a:r>
              <a:rPr sz="2000" b="1"/>
              <a:t>Runs anywhere: </a:t>
            </a:r>
            <a:r>
              <a:rPr sz="2000"/>
              <a:t>self-hosted, or Grafana Cloud (free tier)</a:t>
            </a:r>
          </a:p>
        </p:txBody>
      </p:sp>
      <p:sp>
        <p:nvSpPr>
          <p:cNvPr id="90" name="Slide Number Placeholder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30</a:t>
            </a:fld>
            <a:endParaRPr lang="en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Where Grafana Fits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sz="2000" dirty="0" err="1"/>
              <a:t>InfluxDB</a:t>
            </a:r>
            <a:r>
              <a:rPr sz="2000" dirty="0"/>
              <a:t> stores the readings</a:t>
            </a:r>
          </a:p>
          <a:p>
            <a:r>
              <a:rPr sz="2000" dirty="0"/>
              <a:t>Grafana asks </a:t>
            </a:r>
            <a:r>
              <a:rPr sz="2000" dirty="0" err="1"/>
              <a:t>InfluxDB</a:t>
            </a:r>
            <a:r>
              <a:rPr sz="2000" dirty="0"/>
              <a:t> for them every few seconds</a:t>
            </a:r>
          </a:p>
          <a:p>
            <a:r>
              <a:rPr sz="2000" dirty="0"/>
              <a:t>Dashboards on screens, phones and TVs</a:t>
            </a:r>
          </a:p>
          <a:p>
            <a:r>
              <a:rPr sz="2000" dirty="0"/>
              <a:t>Alerts go to email, Slack, SMS</a:t>
            </a:r>
          </a:p>
          <a:p>
            <a:r>
              <a:rPr sz="2000" b="1" dirty="0"/>
              <a:t>This stack is everywhere: </a:t>
            </a:r>
            <a:r>
              <a:rPr sz="2000" dirty="0"/>
              <a:t>factories, buildings, farms, labs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80" y="868680"/>
            <a:ext cx="3291840" cy="420624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300" b="1">
                <a:solidFill>
                  <a:srgbClr val="112344"/>
                </a:solidFill>
              </a:rPr>
              <a:t>Sensors</a:t>
            </a:r>
            <a:r>
              <a:rPr sz="1100">
                <a:solidFill>
                  <a:srgbClr val="595F69"/>
                </a:solidFill>
              </a:rPr>
              <a:t>  MQTT</a:t>
            </a:r>
          </a:p>
        </p:txBody>
      </p:sp>
      <p:sp>
        <p:nvSpPr>
          <p:cNvPr id="5" name="Down Arrow 4"/>
          <p:cNvSpPr/>
          <p:nvPr/>
        </p:nvSpPr>
        <p:spPr>
          <a:xfrm>
            <a:off x="6784848" y="1298448"/>
            <a:ext cx="146304" cy="109728"/>
          </a:xfrm>
          <a:prstGeom prst="downArrow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212080" y="1417320"/>
            <a:ext cx="3291840" cy="420624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300" b="1">
                <a:solidFill>
                  <a:srgbClr val="112344"/>
                </a:solidFill>
              </a:rPr>
              <a:t>Telegraf</a:t>
            </a:r>
            <a:r>
              <a:rPr sz="1100">
                <a:solidFill>
                  <a:srgbClr val="595F69"/>
                </a:solidFill>
              </a:rPr>
              <a:t>  collect</a:t>
            </a:r>
          </a:p>
        </p:txBody>
      </p:sp>
      <p:sp>
        <p:nvSpPr>
          <p:cNvPr id="7" name="Down Arrow 6"/>
          <p:cNvSpPr/>
          <p:nvPr/>
        </p:nvSpPr>
        <p:spPr>
          <a:xfrm>
            <a:off x="6784848" y="1847088"/>
            <a:ext cx="146304" cy="109728"/>
          </a:xfrm>
          <a:prstGeom prst="downArrow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212080" y="1965960"/>
            <a:ext cx="3291840" cy="420624"/>
          </a:xfrm>
          <a:prstGeom prst="roundRect">
            <a:avLst>
              <a:gd name="adj" fmla="val 20000"/>
            </a:avLst>
          </a:prstGeom>
          <a:solidFill>
            <a:srgbClr val="EA7F26"/>
          </a:solidFill>
          <a:ln w="9525">
            <a:solidFill>
              <a:srgbClr val="EA7F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InfluxDB</a:t>
            </a:r>
            <a:r>
              <a:rPr sz="1100">
                <a:solidFill>
                  <a:srgbClr val="FFFFFF"/>
                </a:solidFill>
              </a:rPr>
              <a:t>  store</a:t>
            </a:r>
          </a:p>
        </p:txBody>
      </p:sp>
      <p:sp>
        <p:nvSpPr>
          <p:cNvPr id="9" name="Down Arrow 8"/>
          <p:cNvSpPr/>
          <p:nvPr/>
        </p:nvSpPr>
        <p:spPr>
          <a:xfrm>
            <a:off x="6784848" y="2395728"/>
            <a:ext cx="146304" cy="109728"/>
          </a:xfrm>
          <a:prstGeom prst="downArrow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212080" y="2514600"/>
            <a:ext cx="3291840" cy="420624"/>
          </a:xfrm>
          <a:prstGeom prst="roundRect">
            <a:avLst>
              <a:gd name="adj" fmla="val 20000"/>
            </a:avLst>
          </a:prstGeom>
          <a:solidFill>
            <a:srgbClr val="EA7F26"/>
          </a:solidFill>
          <a:ln w="9525">
            <a:solidFill>
              <a:srgbClr val="EA7F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Grafana</a:t>
            </a:r>
            <a:r>
              <a:rPr sz="1100">
                <a:solidFill>
                  <a:srgbClr val="FFFFFF"/>
                </a:solidFill>
              </a:rPr>
              <a:t>  visualize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6784848" y="2944368"/>
            <a:ext cx="146304" cy="109728"/>
          </a:xfrm>
          <a:prstGeom prst="downArrow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212080" y="3063240"/>
            <a:ext cx="3291840" cy="420624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300" b="1">
                <a:solidFill>
                  <a:srgbClr val="112344"/>
                </a:solidFill>
              </a:rPr>
              <a:t>People &amp; alerts</a:t>
            </a:r>
          </a:p>
        </p:txBody>
      </p:sp>
      <p:sp>
        <p:nvSpPr>
          <p:cNvPr id="90" name="Slide Number Placeholder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31</a:t>
            </a:fld>
            <a:endParaRPr lang="en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Grafana Building Blocks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b="1" dirty="0"/>
              <a:t>Data source - </a:t>
            </a:r>
            <a:r>
              <a:rPr dirty="0"/>
              <a:t>where the data lives (</a:t>
            </a:r>
            <a:r>
              <a:rPr dirty="0" err="1"/>
              <a:t>InfluxDB</a:t>
            </a:r>
            <a:r>
              <a:rPr dirty="0"/>
              <a:t>, </a:t>
            </a:r>
            <a:r>
              <a:rPr dirty="0" err="1"/>
              <a:t>TestData</a:t>
            </a:r>
            <a:r>
              <a:rPr dirty="0"/>
              <a:t>...)</a:t>
            </a:r>
          </a:p>
          <a:p>
            <a:r>
              <a:rPr b="1" dirty="0"/>
              <a:t>Dashboard - </a:t>
            </a:r>
            <a:r>
              <a:rPr dirty="0"/>
              <a:t>one page of panels</a:t>
            </a:r>
          </a:p>
          <a:p>
            <a:r>
              <a:rPr b="1" dirty="0"/>
              <a:t>Panel - </a:t>
            </a:r>
            <a:r>
              <a:rPr dirty="0"/>
              <a:t>one visualization with its own query</a:t>
            </a:r>
          </a:p>
          <a:p>
            <a:r>
              <a:rPr b="1" dirty="0"/>
              <a:t>Query - </a:t>
            </a:r>
            <a:r>
              <a:rPr dirty="0"/>
              <a:t>what to fetch, e.g. temp for the Kitchen</a:t>
            </a:r>
          </a:p>
          <a:p>
            <a:r>
              <a:rPr b="1" dirty="0"/>
              <a:t>Time range &amp; refresh - </a:t>
            </a:r>
            <a:r>
              <a:rPr dirty="0"/>
              <a:t>"last 15 minutes, every 5 seconds"</a:t>
            </a:r>
            <a:endParaRPr sz="2000" dirty="0"/>
          </a:p>
        </p:txBody>
      </p:sp>
      <p:sp>
        <p:nvSpPr>
          <p:cNvPr id="90" name="Slide Number Placeholder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32</a:t>
            </a:fld>
            <a:endParaRPr lang="en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Choosing the Right Panel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rgbClr val="112344"/>
                </a:solidFill>
              </a:rPr>
              <a:t>Show change over time</a:t>
            </a:r>
          </a:p>
          <a:p>
            <a:r>
              <a:rPr b="1" dirty="0"/>
              <a:t>Time series - </a:t>
            </a:r>
            <a:r>
              <a:rPr dirty="0"/>
              <a:t>trends</a:t>
            </a:r>
          </a:p>
          <a:p>
            <a:r>
              <a:rPr b="1" dirty="0"/>
              <a:t>State timeline - </a:t>
            </a:r>
            <a:r>
              <a:rPr dirty="0"/>
              <a:t>on / off</a:t>
            </a:r>
          </a:p>
          <a:p>
            <a:r>
              <a:rPr b="1" dirty="0"/>
              <a:t>Heatmap - </a:t>
            </a:r>
            <a:r>
              <a:rPr dirty="0"/>
              <a:t>patterns by hour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b="1" dirty="0">
                <a:solidFill>
                  <a:srgbClr val="112344"/>
                </a:solidFill>
              </a:rPr>
              <a:t>Show the current state</a:t>
            </a:r>
          </a:p>
          <a:p>
            <a:r>
              <a:rPr b="1" dirty="0"/>
              <a:t>Stat - </a:t>
            </a:r>
            <a:r>
              <a:rPr dirty="0"/>
              <a:t>one big number</a:t>
            </a:r>
          </a:p>
          <a:p>
            <a:r>
              <a:rPr b="1" dirty="0"/>
              <a:t>Gauge - </a:t>
            </a:r>
            <a:r>
              <a:rPr dirty="0"/>
              <a:t>value against a range</a:t>
            </a:r>
          </a:p>
          <a:p>
            <a:r>
              <a:rPr b="1" dirty="0"/>
              <a:t>Bar chart / Table - </a:t>
            </a:r>
            <a:r>
              <a:rPr dirty="0"/>
              <a:t>compare devices</a:t>
            </a:r>
          </a:p>
        </p:txBody>
      </p:sp>
      <p:sp>
        <p:nvSpPr>
          <p:cNvPr id="90" name="Slide Number Placeholder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33</a:t>
            </a:fld>
            <a:endParaRPr lang="en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Making It Real-Time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z="2000" b="1" dirty="0"/>
              <a:t>Relative time range - </a:t>
            </a:r>
            <a:r>
              <a:rPr sz="2000" dirty="0"/>
              <a:t>"Last 15 minutes" slides forward with the clock</a:t>
            </a:r>
          </a:p>
          <a:p>
            <a:r>
              <a:rPr sz="2000" b="1" dirty="0"/>
              <a:t>Auto-refresh - </a:t>
            </a:r>
            <a:r>
              <a:rPr sz="2000" dirty="0"/>
              <a:t>re-runs the queries every 5 s, 30 s, 1 min...</a:t>
            </a:r>
          </a:p>
          <a:p>
            <a:r>
              <a:rPr sz="2000" b="1" dirty="0"/>
              <a:t>Streaming - </a:t>
            </a:r>
            <a:r>
              <a:rPr sz="2000" dirty="0"/>
              <a:t>Grafana Live pushes new points instantly</a:t>
            </a:r>
          </a:p>
          <a:p>
            <a:r>
              <a:rPr sz="2000" b="1" dirty="0"/>
              <a:t>Thresholds - </a:t>
            </a:r>
            <a:r>
              <a:rPr sz="2000" dirty="0"/>
              <a:t>panels turn amber or red past a limit</a:t>
            </a:r>
          </a:p>
          <a:p>
            <a:r>
              <a:rPr sz="2000" b="1" dirty="0"/>
              <a:t>Alerts - </a:t>
            </a:r>
            <a:r>
              <a:rPr sz="2000" dirty="0"/>
              <a:t>"CO above 5 for 2 minutes" sends a notification</a:t>
            </a:r>
          </a:p>
        </p:txBody>
      </p:sp>
      <p:sp>
        <p:nvSpPr>
          <p:cNvPr id="90" name="Slide Number Placeholder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34</a:t>
            </a:fld>
            <a:endParaRPr lang="en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Dashboard Design Tips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z="2000" dirty="0"/>
              <a:t>Most important panel top-left - that is where eyes land</a:t>
            </a:r>
          </a:p>
          <a:p>
            <a:r>
              <a:rPr sz="2000" dirty="0"/>
              <a:t>Keep it to 5-9 panels per dashboard</a:t>
            </a:r>
          </a:p>
          <a:p>
            <a:r>
              <a:rPr sz="2000" dirty="0"/>
              <a:t>Always show units: °C, %, ppm</a:t>
            </a:r>
          </a:p>
          <a:p>
            <a:r>
              <a:rPr sz="2000" dirty="0" err="1"/>
              <a:t>Colour</a:t>
            </a:r>
            <a:r>
              <a:rPr sz="2000" dirty="0"/>
              <a:t> means something: green OK, amber watch, red act</a:t>
            </a:r>
          </a:p>
          <a:p>
            <a:r>
              <a:rPr sz="2000" dirty="0"/>
              <a:t>Design for the person watching - operator vs manager</a:t>
            </a:r>
          </a:p>
        </p:txBody>
      </p:sp>
      <p:sp>
        <p:nvSpPr>
          <p:cNvPr id="90" name="Slide Number Placeholder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35</a:t>
            </a:fld>
            <a:endParaRPr lang="en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Hands-On 2: Build a Live IoT Dashboard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sz="2000">
                <a:solidFill>
                  <a:srgbClr val="EA7F26"/>
                </a:solidFill>
              </a:rPr>
              <a:t>Grafana Cloud free tier + built-in TestData source</a:t>
            </a:r>
          </a:p>
        </p:txBody>
      </p:sp>
      <p:sp>
        <p:nvSpPr>
          <p:cNvPr id="90" name="Slide Number Placeholder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36</a:t>
            </a:fld>
            <a:endParaRPr lang="en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Activity Setup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b="1" dirty="0"/>
              <a:t>Sign up: </a:t>
            </a:r>
            <a:r>
              <a:rPr dirty="0" err="1"/>
              <a:t>grafana.com</a:t>
            </a:r>
            <a:r>
              <a:rPr dirty="0"/>
              <a:t> - Create free account, no credit card</a:t>
            </a:r>
          </a:p>
          <a:p>
            <a:r>
              <a:rPr dirty="0"/>
              <a:t>Create your stack (any name) and open it</a:t>
            </a:r>
          </a:p>
          <a:p>
            <a:r>
              <a:rPr b="1" dirty="0"/>
              <a:t>Add data source: </a:t>
            </a:r>
            <a:r>
              <a:rPr dirty="0"/>
              <a:t>Connections &gt; Add new connection &gt; </a:t>
            </a:r>
            <a:r>
              <a:rPr dirty="0" err="1"/>
              <a:t>TestData</a:t>
            </a:r>
            <a:r>
              <a:rPr dirty="0"/>
              <a:t> &gt; Add</a:t>
            </a:r>
          </a:p>
          <a:p>
            <a:r>
              <a:rPr dirty="0" err="1"/>
              <a:t>TestData</a:t>
            </a:r>
            <a:r>
              <a:rPr dirty="0"/>
              <a:t> generates simulated live signals - perfect for practice</a:t>
            </a:r>
          </a:p>
          <a:p>
            <a:pPr lvl="1"/>
            <a:r>
              <a:rPr sz="2000" dirty="0"/>
              <a:t>Stretch goal later: point Grafana at your </a:t>
            </a:r>
            <a:r>
              <a:rPr sz="2000" dirty="0" err="1"/>
              <a:t>InfluxDB</a:t>
            </a:r>
            <a:r>
              <a:rPr sz="2000" dirty="0"/>
              <a:t> bucket</a:t>
            </a:r>
          </a:p>
        </p:txBody>
      </p:sp>
      <p:sp>
        <p:nvSpPr>
          <p:cNvPr id="90" name="Slide Number Placeholder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37</a:t>
            </a:fld>
            <a:endParaRPr lang="en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Step 1 - A Live Temperature Panel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sz="2000" dirty="0"/>
              <a:t>Dashboards &gt; New &gt; Add visualization</a:t>
            </a:r>
          </a:p>
          <a:p>
            <a:r>
              <a:rPr sz="2000" dirty="0"/>
              <a:t>Data source: </a:t>
            </a:r>
            <a:r>
              <a:rPr sz="2000" dirty="0" err="1"/>
              <a:t>TestData</a:t>
            </a:r>
            <a:endParaRPr sz="2000" dirty="0"/>
          </a:p>
          <a:p>
            <a:r>
              <a:rPr sz="2000" dirty="0"/>
              <a:t>Scenario: Random Walk</a:t>
            </a:r>
          </a:p>
          <a:p>
            <a:r>
              <a:rPr sz="2000" dirty="0"/>
              <a:t>Title: Room Temperature (°C)</a:t>
            </a:r>
          </a:p>
          <a:p>
            <a:r>
              <a:rPr sz="2000" dirty="0"/>
              <a:t>Unit: Temperature &gt; Celsius</a:t>
            </a:r>
          </a:p>
          <a:p>
            <a:r>
              <a:rPr sz="2000" dirty="0"/>
              <a:t>Time: Last 15 minutes, refresh 5s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80" y="868680"/>
            <a:ext cx="3291840" cy="420624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300" b="1">
                <a:solidFill>
                  <a:srgbClr val="112344"/>
                </a:solidFill>
              </a:rPr>
              <a:t>New dashboard</a:t>
            </a:r>
          </a:p>
        </p:txBody>
      </p:sp>
      <p:sp>
        <p:nvSpPr>
          <p:cNvPr id="5" name="Down Arrow 4"/>
          <p:cNvSpPr/>
          <p:nvPr/>
        </p:nvSpPr>
        <p:spPr>
          <a:xfrm>
            <a:off x="6784848" y="1298448"/>
            <a:ext cx="146304" cy="109728"/>
          </a:xfrm>
          <a:prstGeom prst="downArrow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212080" y="1417320"/>
            <a:ext cx="3291840" cy="420624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300" b="1">
                <a:solidFill>
                  <a:srgbClr val="112344"/>
                </a:solidFill>
              </a:rPr>
              <a:t>Add visualization</a:t>
            </a:r>
          </a:p>
        </p:txBody>
      </p:sp>
      <p:sp>
        <p:nvSpPr>
          <p:cNvPr id="7" name="Down Arrow 6"/>
          <p:cNvSpPr/>
          <p:nvPr/>
        </p:nvSpPr>
        <p:spPr>
          <a:xfrm>
            <a:off x="6784848" y="1847088"/>
            <a:ext cx="146304" cy="109728"/>
          </a:xfrm>
          <a:prstGeom prst="downArrow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212080" y="1965960"/>
            <a:ext cx="3291840" cy="420624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300" b="1">
                <a:solidFill>
                  <a:srgbClr val="112344"/>
                </a:solidFill>
              </a:rPr>
              <a:t>TestData &gt; Random Walk</a:t>
            </a:r>
          </a:p>
        </p:txBody>
      </p:sp>
      <p:sp>
        <p:nvSpPr>
          <p:cNvPr id="9" name="Down Arrow 8"/>
          <p:cNvSpPr/>
          <p:nvPr/>
        </p:nvSpPr>
        <p:spPr>
          <a:xfrm>
            <a:off x="6784848" y="2395728"/>
            <a:ext cx="146304" cy="109728"/>
          </a:xfrm>
          <a:prstGeom prst="downArrow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212080" y="2514600"/>
            <a:ext cx="3291840" cy="420624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300" b="1">
                <a:solidFill>
                  <a:srgbClr val="112344"/>
                </a:solidFill>
              </a:rPr>
              <a:t>Title + unit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6784848" y="2944368"/>
            <a:ext cx="146304" cy="109728"/>
          </a:xfrm>
          <a:prstGeom prst="downArrow">
            <a:avLst/>
          </a:prstGeom>
          <a:solidFill>
            <a:srgbClr val="D0D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212080" y="3063240"/>
            <a:ext cx="3291840" cy="420624"/>
          </a:xfrm>
          <a:prstGeom prst="roundRect">
            <a:avLst>
              <a:gd name="adj" fmla="val 20000"/>
            </a:avLst>
          </a:prstGeom>
          <a:solidFill>
            <a:srgbClr val="EA7F26"/>
          </a:solidFill>
          <a:ln w="9525">
            <a:solidFill>
              <a:srgbClr val="EA7F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Refresh 5s</a:t>
            </a:r>
            <a:r>
              <a:rPr sz="1100">
                <a:solidFill>
                  <a:srgbClr val="FFFFFF"/>
                </a:solidFill>
              </a:rPr>
              <a:t>  watch it move</a:t>
            </a:r>
          </a:p>
        </p:txBody>
      </p:sp>
      <p:sp>
        <p:nvSpPr>
          <p:cNvPr id="90" name="Slide Number Placeholder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38</a:t>
            </a:fld>
            <a:endParaRPr lang="en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Step 2 - Gauge with Thresholds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sz="2000" dirty="0"/>
              <a:t>Add another visualization &gt; Gauge</a:t>
            </a:r>
          </a:p>
          <a:p>
            <a:r>
              <a:rPr sz="2000" dirty="0"/>
              <a:t>Same Random Walk query</a:t>
            </a:r>
          </a:p>
          <a:p>
            <a:r>
              <a:rPr sz="2000" dirty="0"/>
              <a:t>Calculation: Last</a:t>
            </a:r>
          </a:p>
          <a:p>
            <a:r>
              <a:rPr sz="2000" dirty="0"/>
              <a:t>Min 0, max 50</a:t>
            </a:r>
          </a:p>
          <a:p>
            <a:r>
              <a:rPr sz="2000" dirty="0"/>
              <a:t>Thresholds: green, 25 amber, 30 red</a:t>
            </a:r>
          </a:p>
          <a:p>
            <a:r>
              <a:rPr sz="2000" dirty="0"/>
              <a:t>Title: Current Temperature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83480" y="1463040"/>
            <a:ext cx="3749039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EA7F26"/>
                </a:solidFill>
              </a:rPr>
              <a:t>Thresholds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83480" y="1755648"/>
            <a:ext cx="3749039" cy="1078992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l"/>
            <a:r>
              <a:rPr sz="1300">
                <a:solidFill>
                  <a:srgbClr val="112344"/>
                </a:solidFill>
                <a:latin typeface="Courier New"/>
              </a:rPr>
              <a:t>  0 ─ 25   green   OK</a:t>
            </a:r>
          </a:p>
          <a:p>
            <a:pPr algn="l"/>
            <a:r>
              <a:rPr sz="1300">
                <a:solidFill>
                  <a:srgbClr val="112344"/>
                </a:solidFill>
                <a:latin typeface="Courier New"/>
              </a:rPr>
              <a:t> 25 ─ 30   amber   watch</a:t>
            </a:r>
          </a:p>
          <a:p>
            <a:pPr algn="l"/>
            <a:r>
              <a:rPr sz="1300">
                <a:solidFill>
                  <a:srgbClr val="112344"/>
                </a:solidFill>
                <a:latin typeface="Courier New"/>
              </a:rPr>
              <a:t> 30 +      red     act</a:t>
            </a:r>
          </a:p>
        </p:txBody>
      </p:sp>
      <p:sp>
        <p:nvSpPr>
          <p:cNvPr id="90" name="Slide Number Placeholder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39</a:t>
            </a:fld>
            <a:endParaRPr lang="en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Step 3 - Arrange, Save, Share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dirty="0"/>
              <a:t>Drag and resize: gauge top-left, time series beside it</a:t>
            </a:r>
          </a:p>
          <a:p>
            <a:r>
              <a:rPr dirty="0"/>
              <a:t>Save the dashboard as My IoT Room</a:t>
            </a:r>
          </a:p>
          <a:p>
            <a:r>
              <a:rPr dirty="0"/>
              <a:t>Change the time range to Last 5 minutes - what happens?</a:t>
            </a:r>
          </a:p>
          <a:p>
            <a:r>
              <a:rPr b="1" dirty="0"/>
              <a:t>Stretch: </a:t>
            </a:r>
            <a:r>
              <a:rPr dirty="0"/>
              <a:t>add a Stat panel with scenario "Streaming client"</a:t>
            </a:r>
          </a:p>
          <a:p>
            <a:r>
              <a:rPr b="1" dirty="0"/>
              <a:t>Stretch: </a:t>
            </a:r>
            <a:r>
              <a:rPr dirty="0"/>
              <a:t>add an alert rule - temperature above 30</a:t>
            </a:r>
          </a:p>
        </p:txBody>
      </p:sp>
      <p:sp>
        <p:nvSpPr>
          <p:cNvPr id="90" name="Slide Number Placeholder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40</a:t>
            </a:fld>
            <a:endParaRPr lang="en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Discuss &amp; Stretch Goals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z="2000"/>
              <a:t>What refresh rate suits a factory motor? A weather station?</a:t>
            </a:r>
          </a:p>
          <a:p>
            <a:r>
              <a:rPr sz="2000"/>
              <a:t>Why store data in InfluxDB rather than in Grafana?</a:t>
            </a:r>
          </a:p>
          <a:p>
            <a:r>
              <a:rPr sz="2000"/>
              <a:t>Which panel would you pick for a battery level? A door sensor?</a:t>
            </a:r>
          </a:p>
          <a:p>
            <a:r>
              <a:rPr sz="2000" b="1"/>
              <a:t>Stretch - </a:t>
            </a:r>
            <a:r>
              <a:rPr sz="2000"/>
              <a:t>connect Grafana to your InfluxDB lab bucket (SQL)</a:t>
            </a:r>
          </a:p>
          <a:p>
            <a:r>
              <a:rPr sz="2000" b="1"/>
              <a:t>Stretch - </a:t>
            </a:r>
            <a:r>
              <a:rPr sz="2000"/>
              <a:t>browse real dashboards at play.grafana.org</a:t>
            </a:r>
          </a:p>
        </p:txBody>
      </p:sp>
      <p:sp>
        <p:nvSpPr>
          <p:cNvPr id="90" name="Slide Number Placeholder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41</a:t>
            </a:fld>
            <a:endParaRPr lang="en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Takeaways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z="2000"/>
              <a:t>IoT data is time-series data: timestamped, append-only, endless</a:t>
            </a:r>
          </a:p>
          <a:p>
            <a:r>
              <a:rPr sz="2000"/>
              <a:t>Time-series databases write fast, compress well and bin by time</a:t>
            </a:r>
          </a:p>
          <a:p>
            <a:r>
              <a:rPr sz="2000"/>
              <a:t>InfluxDB: tags describe, fields measure; write line protocol, read SQL</a:t>
            </a:r>
          </a:p>
          <a:p>
            <a:r>
              <a:rPr sz="2000"/>
              <a:t>Grafana stores nothing - it queries live and draws dashboards</a:t>
            </a:r>
          </a:p>
          <a:p>
            <a:r>
              <a:rPr sz="2000"/>
              <a:t>You stored, queried and visualized sensor data yourself today</a:t>
            </a:r>
          </a:p>
        </p:txBody>
      </p:sp>
      <p:sp>
        <p:nvSpPr>
          <p:cNvPr id="90" name="Slide Number Placeholder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42</a:t>
            </a:fld>
            <a:endParaRPr lang="en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What's Next &amp; Resources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z="2000" dirty="0"/>
              <a:t>Practice - finish both stretch goals</a:t>
            </a:r>
          </a:p>
          <a:p>
            <a:r>
              <a:rPr sz="2000" dirty="0"/>
              <a:t>Docs - docs.influxdata.com (</a:t>
            </a:r>
            <a:r>
              <a:rPr sz="2000" dirty="0" err="1"/>
              <a:t>InfluxDB</a:t>
            </a:r>
            <a:r>
              <a:rPr sz="2000" dirty="0"/>
              <a:t> 3 Cloud Serverless: Get started)</a:t>
            </a:r>
          </a:p>
          <a:p>
            <a:r>
              <a:rPr sz="2000" dirty="0"/>
              <a:t>Tutorials - grafana.com/tutorials</a:t>
            </a:r>
          </a:p>
          <a:p>
            <a:r>
              <a:rPr sz="2000" dirty="0"/>
              <a:t>Explore - play.grafana.org for real dashboard examples</a:t>
            </a:r>
          </a:p>
          <a:p>
            <a:r>
              <a:rPr sz="2000" dirty="0"/>
              <a:t>Try later - Telegraf + MQTT to feed real sensor data into </a:t>
            </a:r>
            <a:r>
              <a:rPr sz="2000" dirty="0" err="1"/>
              <a:t>InfluxDB</a:t>
            </a:r>
            <a:endParaRPr sz="2000" dirty="0"/>
          </a:p>
        </p:txBody>
      </p:sp>
      <p:sp>
        <p:nvSpPr>
          <p:cNvPr id="90" name="Slide Number Placeholder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43</a:t>
            </a:fld>
            <a:endParaRPr lang="en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786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_Iot" id="{C1CEF91A-A037-7F43-8AA2-9D804B4D36B0}" vid="{6BB0B052-B1C3-BA43-B2C9-AB78CA9E95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26A7214-0529-7345-8187-54A600FA88A2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0b4e2525-ce77-424c-a84a-63a18bda67d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1513</TotalTime>
  <Words>2928</Words>
  <Application>Microsoft Office PowerPoint</Application>
  <PresentationFormat>On-screen Show (16:9)</PresentationFormat>
  <Paragraphs>451</Paragraphs>
  <Slides>44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1" baseType="lpstr">
      <vt:lpstr>.Hiragino Kaku Gothic Interface W3</vt:lpstr>
      <vt:lpstr>Arial</vt:lpstr>
      <vt:lpstr>Calibri</vt:lpstr>
      <vt:lpstr>Calibri Light</vt:lpstr>
      <vt:lpstr>Courier New</vt:lpstr>
      <vt:lpstr>Zapf Dingbats</vt:lpstr>
      <vt:lpstr>Office Theme</vt:lpstr>
      <vt:lpstr>PowerPoint Presentation</vt:lpstr>
      <vt:lpstr>PowerPoint Presentation</vt:lpstr>
      <vt:lpstr>Today's Session at a Glance</vt:lpstr>
      <vt:lpstr>Learning Outcomes</vt:lpstr>
      <vt:lpstr>Quick Recap: Where We Left Off</vt:lpstr>
      <vt:lpstr>Part 1: Time-Series Data &amp; Databases</vt:lpstr>
      <vt:lpstr>What is Time-Series Data?</vt:lpstr>
      <vt:lpstr>IoT Data is Time-Series Data</vt:lpstr>
      <vt:lpstr>Why Not Just Use a Regular Database?</vt:lpstr>
      <vt:lpstr>What Makes a Time-Series Database Special</vt:lpstr>
      <vt:lpstr>Popular Time-Series Databases</vt:lpstr>
      <vt:lpstr>Part 2: InfluxDB</vt:lpstr>
      <vt:lpstr>Meet InfluxDB</vt:lpstr>
      <vt:lpstr>The InfluxDB Data Model</vt:lpstr>
      <vt:lpstr>Tags vs Fields</vt:lpstr>
      <vt:lpstr>Line Protocol: How Data Is Written</vt:lpstr>
      <vt:lpstr>Getting Data Into InfluxDB</vt:lpstr>
      <vt:lpstr>Querying with SQL</vt:lpstr>
      <vt:lpstr>Time-Bucketing with DATE_BIN</vt:lpstr>
      <vt:lpstr>Retention &amp; Downsampling</vt:lpstr>
      <vt:lpstr>Hands-On 1: Store &amp; Query Sensor Data</vt:lpstr>
      <vt:lpstr>Activity Setup</vt:lpstr>
      <vt:lpstr>Step 1 - Write Readings (Line Protocol)</vt:lpstr>
      <vt:lpstr>Step 2 - Query Your Data</vt:lpstr>
      <vt:lpstr>Step 2 - Check Your Results</vt:lpstr>
      <vt:lpstr>Step 3 - Bucket by Time</vt:lpstr>
      <vt:lpstr>Step 3 - Check Your Results</vt:lpstr>
      <vt:lpstr>Part 3: Real-Time Visualization with Grafana</vt:lpstr>
      <vt:lpstr>Why Visualize IoT Data?</vt:lpstr>
      <vt:lpstr>Meet Grafana</vt:lpstr>
      <vt:lpstr>Where Grafana Fits</vt:lpstr>
      <vt:lpstr>Grafana Building Blocks</vt:lpstr>
      <vt:lpstr>Choosing the Right Panel</vt:lpstr>
      <vt:lpstr>Making It Real-Time</vt:lpstr>
      <vt:lpstr>Dashboard Design Tips</vt:lpstr>
      <vt:lpstr>Hands-On 2: Build a Live IoT Dashboard</vt:lpstr>
      <vt:lpstr>Activity Setup</vt:lpstr>
      <vt:lpstr>Step 1 - A Live Temperature Panel</vt:lpstr>
      <vt:lpstr>Step 2 - Gauge with Thresholds</vt:lpstr>
      <vt:lpstr>Step 3 - Arrange, Save, Share</vt:lpstr>
      <vt:lpstr>Discuss &amp; Stretch Goals</vt:lpstr>
      <vt:lpstr>Key Takeaways</vt:lpstr>
      <vt:lpstr>What's Next &amp; Resources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indu radhakrishnan</dc:creator>
  <cp:keywords/>
  <dc:description/>
  <cp:lastModifiedBy>Charab Raj  B R</cp:lastModifiedBy>
  <cp:revision>5</cp:revision>
  <dcterms:created xsi:type="dcterms:W3CDTF">2026-07-21T06:13:09Z</dcterms:created>
  <dcterms:modified xsi:type="dcterms:W3CDTF">2026-10-12T12:54:28Z</dcterms:modified>
  <cp:category/>
</cp:coreProperties>
</file>